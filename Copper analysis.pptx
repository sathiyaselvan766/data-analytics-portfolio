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7" r:id="rId9"/>
    <p:sldId id="271" r:id="rId10"/>
    <p:sldId id="272" r:id="rId11"/>
    <p:sldId id="263" r:id="rId12"/>
    <p:sldId id="269" r:id="rId13"/>
    <p:sldId id="270" r:id="rId14"/>
    <p:sldId id="268" r:id="rId15"/>
    <p:sldId id="273" r:id="rId16"/>
    <p:sldId id="26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E109"/>
    <a:srgbClr val="E109C2"/>
    <a:srgbClr val="4989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48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6150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8077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1032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7336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alphaModFix amt="6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49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/>
          <a:p>
            <a:pPr lvl="0" indent="-228600">
              <a:buNone/>
            </a:pPr>
            <a:r>
              <a:rPr lang="en-IN" b="1" dirty="0">
                <a:solidFill>
                  <a:srgbClr val="002060"/>
                </a:solidFill>
              </a:rPr>
              <a:t>Presented by</a:t>
            </a:r>
            <a:r>
              <a:rPr lang="en-IN" dirty="0">
                <a:solidFill>
                  <a:srgbClr val="002060"/>
                </a:solidFill>
              </a:rPr>
              <a:t>: Sathiya Selvan A                                      </a:t>
            </a:r>
            <a:r>
              <a:rPr lang="en-IN" b="1" dirty="0">
                <a:solidFill>
                  <a:srgbClr val="002060"/>
                </a:solidFill>
              </a:rPr>
              <a:t>Date</a:t>
            </a:r>
            <a:r>
              <a:rPr lang="en-IN" dirty="0">
                <a:solidFill>
                  <a:srgbClr val="002060"/>
                </a:solidFill>
              </a:rPr>
              <a:t>:24/04/2025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 fontScale="90000"/>
          </a:bodyPr>
          <a:lstStyle/>
          <a:p>
            <a:pPr lvl="0" algn="ctr"/>
            <a:r>
              <a:rPr lang="en-IN" sz="8000" dirty="0">
                <a:solidFill>
                  <a:srgbClr val="002060"/>
                </a:solidFill>
              </a:rPr>
              <a:t>Copper Demand Analysis</a:t>
            </a:r>
            <a:br>
              <a:rPr lang="en-IN" sz="8000" dirty="0">
                <a:solidFill>
                  <a:srgbClr val="002060"/>
                </a:solidFill>
              </a:rPr>
            </a:br>
            <a:r>
              <a:rPr lang="en-US" sz="2200" dirty="0">
                <a:solidFill>
                  <a:srgbClr val="002060"/>
                </a:solidFill>
              </a:rPr>
              <a:t>*Data-Driven Insights for Strategic Decision-Making*</a:t>
            </a:r>
            <a:endParaRPr sz="8000" dirty="0">
              <a:solidFill>
                <a:srgbClr val="002060"/>
              </a:solidFill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E6F123-8398-45C1-B871-B800DF56B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52" y="2469187"/>
            <a:ext cx="5088348" cy="30642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66BB1D-26BF-40DE-9094-B04B708BCAFC}"/>
              </a:ext>
            </a:extLst>
          </p:cNvPr>
          <p:cNvSpPr txBox="1"/>
          <p:nvPr/>
        </p:nvSpPr>
        <p:spPr>
          <a:xfrm>
            <a:off x="1381328" y="5943102"/>
            <a:ext cx="4714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Company/Organization: https://360digitmg.com/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C9A8FF-E683-4F8A-BE4E-5C5D273EC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43" y="2469187"/>
            <a:ext cx="5088348" cy="3064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63275" y="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383125" y="1149375"/>
            <a:ext cx="11034000" cy="373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Constraints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</a:t>
            </a:r>
            <a:r>
              <a:rPr lang="en-US" sz="3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Diagram</a:t>
            </a:r>
            <a:endParaRPr b="1" dirty="0">
              <a:solidFill>
                <a:srgbClr val="002060"/>
              </a:solidFill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</a:p>
          <a:p>
            <a:pPr marL="457200" lvl="0" indent="-431800">
              <a:lnSpc>
                <a:spcPct val="90000"/>
              </a:lnSpc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lang="en-US"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lvl="0"/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Problem/</a:t>
            </a:r>
            <a:r>
              <a:rPr lang="en-US" sz="3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Objective/ Constraints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6BFE1A-E170-4A0E-A3C5-23D5B9A18A63}"/>
              </a:ext>
            </a:extLst>
          </p:cNvPr>
          <p:cNvSpPr txBox="1"/>
          <p:nvPr/>
        </p:nvSpPr>
        <p:spPr>
          <a:xfrm>
            <a:off x="376029" y="1214754"/>
            <a:ext cx="1051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The company is facing challenges in accurately analyzing the demand for copper, a critical raw material in the steel industry. Without a structured demand analysis approach, fluctuations in copper demand lead to inefficient procurement strategies, increased inventory holding costs, and potential supply chain disruptions.</a:t>
            </a:r>
          </a:p>
          <a:p>
            <a:endParaRPr lang="en-US" sz="2400" b="1" dirty="0">
              <a:solidFill>
                <a:srgbClr val="002060"/>
              </a:solidFill>
            </a:endParaRPr>
          </a:p>
          <a:p>
            <a:pPr lvl="0"/>
            <a:r>
              <a:rPr lang="en-US" sz="2000" b="1" dirty="0">
                <a:solidFill>
                  <a:srgbClr val="002060"/>
                </a:solidFill>
              </a:rPr>
              <a:t>Business Objective</a:t>
            </a:r>
            <a:endParaRPr lang="en-IN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Minimize Copper Procurement Costs</a:t>
            </a:r>
            <a:endParaRPr lang="en-IN" sz="2000" dirty="0">
              <a:solidFill>
                <a:srgbClr val="002060"/>
              </a:solidFill>
            </a:endParaRPr>
          </a:p>
          <a:p>
            <a:pPr lvl="0"/>
            <a:r>
              <a:rPr lang="en-US" sz="2000" b="1" dirty="0">
                <a:solidFill>
                  <a:srgbClr val="002060"/>
                </a:solidFill>
              </a:rPr>
              <a:t>Business Constraint</a:t>
            </a:r>
            <a:endParaRPr lang="en-IN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Minimize Risks Associated with Price Volatility.</a:t>
            </a:r>
            <a:endParaRPr lang="en-IN" sz="2000" dirty="0">
              <a:solidFill>
                <a:srgbClr val="002060"/>
              </a:solidFill>
            </a:endParaRPr>
          </a:p>
          <a:p>
            <a:pPr lvl="0"/>
            <a:r>
              <a:rPr lang="en-US" sz="2000" b="1" dirty="0">
                <a:solidFill>
                  <a:srgbClr val="002060"/>
                </a:solidFill>
              </a:rPr>
              <a:t>Success Criteria:</a:t>
            </a:r>
            <a:endParaRPr lang="en-IN" sz="2000" dirty="0">
              <a:solidFill>
                <a:srgbClr val="002060"/>
              </a:solidFill>
            </a:endParaRPr>
          </a:p>
          <a:p>
            <a:pPr lvl="1"/>
            <a:r>
              <a:rPr lang="en-US" sz="2000" b="1" dirty="0">
                <a:solidFill>
                  <a:srgbClr val="002060"/>
                </a:solidFill>
              </a:rPr>
              <a:t>Business Success Criteria</a:t>
            </a:r>
            <a:endParaRPr lang="en-IN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Reduce procurement costs for Copper by at least 20%.</a:t>
            </a:r>
            <a:endParaRPr lang="en-IN" sz="2000" dirty="0">
              <a:solidFill>
                <a:srgbClr val="002060"/>
              </a:solidFill>
            </a:endParaRPr>
          </a:p>
          <a:p>
            <a:pPr lvl="1"/>
            <a:r>
              <a:rPr lang="en-US" sz="2000" b="1" dirty="0">
                <a:solidFill>
                  <a:srgbClr val="002060"/>
                </a:solidFill>
              </a:rPr>
              <a:t>Economic Success Criteria</a:t>
            </a:r>
            <a:endParaRPr lang="en-IN" sz="2000" dirty="0">
              <a:solidFill>
                <a:srgbClr val="002060"/>
              </a:solidFill>
            </a:endParaRPr>
          </a:p>
          <a:p>
            <a:r>
              <a:rPr lang="en-US" sz="2000" dirty="0">
                <a:solidFill>
                  <a:srgbClr val="002060"/>
                </a:solidFill>
              </a:rPr>
              <a:t>Increase the overall revenue of the company by at least 10%.</a:t>
            </a:r>
            <a:endParaRPr lang="en-IN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96C6-D0DF-4213-BDDE-FB6707A8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</p:spPr>
        <p:txBody>
          <a:bodyPr/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Flow Diagram</a:t>
            </a:r>
            <a:endParaRPr lang="en-IN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51827D5-16D6-4163-936A-D7DB2B4C2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027"/>
            <a:ext cx="12146070" cy="4503773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57BD991-6E86-4E02-AC4F-A057799FFE58}"/>
              </a:ext>
            </a:extLst>
          </p:cNvPr>
          <p:cNvSpPr/>
          <p:nvPr/>
        </p:nvSpPr>
        <p:spPr>
          <a:xfrm>
            <a:off x="2449788" y="952107"/>
            <a:ext cx="7637925" cy="963970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COPPER DEMAND ANALYSIS - ARCHITECTURE</a:t>
            </a:r>
            <a:endParaRPr lang="en-GB" sz="2800" b="1" dirty="0">
              <a:solidFill>
                <a:schemeClr val="bg1"/>
              </a:solidFill>
            </a:endParaRPr>
          </a:p>
        </p:txBody>
      </p:sp>
      <p:pic>
        <p:nvPicPr>
          <p:cNvPr id="57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FF5AC204-38AA-4029-97D0-2746F69FDA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69031" y="6002624"/>
            <a:ext cx="2277039" cy="855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347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6053425" y="2493975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379379" y="1187700"/>
            <a:ext cx="11575915" cy="398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US" sz="3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aims to optimize the procurement process of copper, a critical raw material, by reducing acquisition costs and minimizing the financial risks posed by price volatility. The initiative will implement strategic sourcing, risk management tools to create a more cost-efficient and resilient copper supply chain.</a:t>
            </a:r>
          </a:p>
          <a:p>
            <a:pPr marL="4572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800"/>
            </a:pPr>
            <a:r>
              <a:rPr lang="en-US" sz="32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scope of the project is to optimization the cost, risk management, technology and tools using to find deployment of procurement analytics dashboards.</a:t>
            </a: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D970E3-5271-4A5C-B979-5D0AB5F2927C}"/>
              </a:ext>
            </a:extLst>
          </p:cNvPr>
          <p:cNvSpPr/>
          <p:nvPr/>
        </p:nvSpPr>
        <p:spPr>
          <a:xfrm>
            <a:off x="0" y="1028700"/>
            <a:ext cx="12192000" cy="423862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r>
              <a:rPr lang="en-US" sz="3200" b="1" dirty="0"/>
              <a:t>Field Name	   Data Type 	Description</a:t>
            </a:r>
            <a:r>
              <a:rPr lang="en-US" sz="3200" dirty="0"/>
              <a:t>	</a:t>
            </a:r>
          </a:p>
          <a:p>
            <a:endParaRPr lang="en-US" sz="3200" dirty="0"/>
          </a:p>
          <a:p>
            <a:r>
              <a:rPr lang="en-US" sz="3200" dirty="0"/>
              <a:t>Data			   Data	         Transaction or Consumption Data</a:t>
            </a:r>
          </a:p>
          <a:p>
            <a:r>
              <a:rPr lang="en-US" sz="3200" dirty="0"/>
              <a:t>Unit Price USD	   Decimal	         Price Per Metric ton at Purchase</a:t>
            </a:r>
          </a:p>
          <a:p>
            <a:r>
              <a:rPr lang="en-US" sz="3200" dirty="0"/>
              <a:t>Volume		   Numeric         Metric Tones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770FD3-85BF-4D6A-9EEE-04DDAC44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Times New Roman"/>
              </a:rPr>
              <a:t>Exploratory Data Analysis [EDA]</a:t>
            </a:r>
            <a:endParaRPr lang="en-IN" dirty="0"/>
          </a:p>
        </p:txBody>
      </p:sp>
      <p:sp>
        <p:nvSpPr>
          <p:cNvPr id="21" name="Google Shape;119;p25">
            <a:extLst>
              <a:ext uri="{FF2B5EF4-FFF2-40B4-BE49-F238E27FC236}">
                <a16:creationId xmlns:a16="http://schemas.microsoft.com/office/drawing/2014/main" id="{A98158BD-11C9-45C3-9C57-01FA0DFB3509}"/>
              </a:ext>
            </a:extLst>
          </p:cNvPr>
          <p:cNvSpPr/>
          <p:nvPr/>
        </p:nvSpPr>
        <p:spPr>
          <a:xfrm>
            <a:off x="559838" y="1875934"/>
            <a:ext cx="5374433" cy="455314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200" b="1" dirty="0">
                <a:solidFill>
                  <a:srgbClr val="002060"/>
                </a:solidFill>
              </a:rPr>
              <a:t>Mean &amp; Median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2060"/>
                </a:solidFill>
              </a:rPr>
              <a:t>The mean (3.39) and median (3.41) are very close, indicating a balanced, normally distributed dataset with minimal skewness. The mode (3.79) is higher than the mean and median, suggesting. A minor right-skew (a few higher values pulling the mode up.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rgbClr val="002060"/>
              </a:solidFill>
            </a:endParaRPr>
          </a:p>
          <a:p>
            <a:pPr marL="228600" marR="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 startAt="2"/>
            </a:pPr>
            <a:r>
              <a:rPr lang="en-US" sz="12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Standard Deviation &amp; Variance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With a standard deviation of just 0.69, your operations demonstrate pharmaceutical-grade consistency. The 2.99 range reveals</a:t>
            </a:r>
            <a:r>
              <a:rPr lang="en-US" sz="1200" dirty="0">
                <a:solidFill>
                  <a:srgbClr val="002060"/>
                </a:solidFill>
              </a:rPr>
              <a:t>.</a:t>
            </a:r>
            <a:r>
              <a:rPr lang="en-US" sz="12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Just 3-5% of operations deviate meaningfully from perfection. These outliers likely account for 20-30% of your quality costs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2060"/>
                </a:solidFill>
              </a:rPr>
              <a:t>3. </a:t>
            </a:r>
            <a:r>
              <a:rPr lang="en-GB" sz="1200" b="1" dirty="0">
                <a:solidFill>
                  <a:srgbClr val="002060"/>
                </a:solidFill>
              </a:rPr>
              <a:t>Skewness &amp; Kurtosis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The data closely resembles a normal distribution, making it ideal for models that assume normality. Since the skew is minimal, the mean, median, and mode are likely very close, reducing ambiguity in reporting "average" values.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 contrast to high-kurtosis data (0.88), this dataset shows lower frequency of extreme deviations from the mean.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rgbClr val="002060"/>
              </a:solidFill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2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Price Spread (Range)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02060"/>
                </a:solidFill>
              </a:rPr>
              <a:t>High and low price spread shows daily volatility.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Wide spreads </a:t>
            </a:r>
            <a:r>
              <a:rPr lang="en-US" sz="1200" dirty="0">
                <a:solidFill>
                  <a:srgbClr val="002060"/>
                </a:solidFill>
              </a:rPr>
              <a:t>indicate high price fluctuations critical for timing purchases.</a:t>
            </a:r>
            <a:endParaRPr sz="1200" i="0" u="none" strike="noStrike" cap="none" dirty="0">
              <a:solidFill>
                <a:srgbClr val="002060"/>
              </a:solidFill>
              <a:sym typeface="Arial"/>
            </a:endParaRPr>
          </a:p>
        </p:txBody>
      </p:sp>
      <p:sp>
        <p:nvSpPr>
          <p:cNvPr id="22" name="Google Shape;120;p25">
            <a:extLst>
              <a:ext uri="{FF2B5EF4-FFF2-40B4-BE49-F238E27FC236}">
                <a16:creationId xmlns:a16="http://schemas.microsoft.com/office/drawing/2014/main" id="{9F4FE8F8-8E3B-4AD8-B484-AD1E7A1050C1}"/>
              </a:ext>
            </a:extLst>
          </p:cNvPr>
          <p:cNvSpPr/>
          <p:nvPr/>
        </p:nvSpPr>
        <p:spPr>
          <a:xfrm>
            <a:off x="6187475" y="1875934"/>
            <a:ext cx="5374433" cy="455314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Demand Trend Analysis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Line plots and autocorrelation indicate seasonal or monthly peaks. Plan procurement ahead of expected spikes (quarterly trend, yearly trend).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2060"/>
              </a:solidFill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2. </a:t>
            </a:r>
            <a:r>
              <a:rPr lang="en-US" b="1" dirty="0">
                <a:solidFill>
                  <a:srgbClr val="002060"/>
                </a:solidFill>
              </a:rPr>
              <a:t>Optimization Opportunity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Dynamic Forecasting Models, Integrating real-time production schedules and sales pipelines to refine demand planning. Treating copper demand by business unit, geography, or product type allows for more accurate micro-forecasting.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3. </a:t>
            </a:r>
            <a:r>
              <a:rPr lang="en-US" b="1" dirty="0">
                <a:solidFill>
                  <a:srgbClr val="002060"/>
                </a:solidFill>
              </a:rPr>
              <a:t>Cost Efficiency</a:t>
            </a:r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Line chart and Histogram shows most prices fall within a narrow range. Historical price bounds can guide negotiation thresholds with vendors.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4. </a:t>
            </a:r>
            <a:r>
              <a:rPr lang="en-US" b="1" dirty="0">
                <a:solidFill>
                  <a:srgbClr val="002060"/>
                </a:solidFill>
              </a:rPr>
              <a:t>Forecast Potential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2060"/>
                </a:solidFill>
              </a:rPr>
              <a:t>Accurate forecasting improves cash flow, reduces risk, and allows strategic buying during favorable market conditions.</a:t>
            </a:r>
            <a:endParaRPr sz="1400" b="0" i="0" u="none" strike="noStrike" cap="none" dirty="0">
              <a:solidFill>
                <a:srgbClr val="002060"/>
              </a:solidFill>
              <a:sym typeface="Arial"/>
            </a:endParaRPr>
          </a:p>
        </p:txBody>
      </p:sp>
      <p:sp>
        <p:nvSpPr>
          <p:cNvPr id="23" name="Google Shape;121;p25">
            <a:extLst>
              <a:ext uri="{FF2B5EF4-FFF2-40B4-BE49-F238E27FC236}">
                <a16:creationId xmlns:a16="http://schemas.microsoft.com/office/drawing/2014/main" id="{D0B42EA1-1DDA-4D37-9EED-E6EF37F14A0D}"/>
              </a:ext>
            </a:extLst>
          </p:cNvPr>
          <p:cNvSpPr txBox="1"/>
          <p:nvPr/>
        </p:nvSpPr>
        <p:spPr>
          <a:xfrm>
            <a:off x="559838" y="1181100"/>
            <a:ext cx="537443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Statistical Insights</a:t>
            </a:r>
            <a:endParaRPr sz="2800" b="1" i="0" u="sng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22;p25">
            <a:extLst>
              <a:ext uri="{FF2B5EF4-FFF2-40B4-BE49-F238E27FC236}">
                <a16:creationId xmlns:a16="http://schemas.microsoft.com/office/drawing/2014/main" id="{2BC1B24E-499D-4F32-8528-858B1F25F92C}"/>
              </a:ext>
            </a:extLst>
          </p:cNvPr>
          <p:cNvSpPr txBox="1"/>
          <p:nvPr/>
        </p:nvSpPr>
        <p:spPr>
          <a:xfrm>
            <a:off x="6187475" y="1175021"/>
            <a:ext cx="537443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sng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  <a:endParaRPr sz="2800" b="1" i="0" u="sng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6B185F07-3E1E-4C39-82E6-649A718FF9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4961" y="6344345"/>
            <a:ext cx="2277039" cy="52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7627-56BB-4FAB-A1D1-D8109ADB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7836"/>
            <a:ext cx="10515600" cy="535440"/>
          </a:xfrm>
        </p:spPr>
        <p:txBody>
          <a:bodyPr/>
          <a:lstStyle/>
          <a:p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1D7CC4-7C79-4114-A9B5-3ACCCA668936}"/>
              </a:ext>
            </a:extLst>
          </p:cNvPr>
          <p:cNvSpPr/>
          <p:nvPr/>
        </p:nvSpPr>
        <p:spPr>
          <a:xfrm>
            <a:off x="66675" y="952499"/>
            <a:ext cx="11772900" cy="5572125"/>
          </a:xfrm>
          <a:prstGeom prst="rect">
            <a:avLst/>
          </a:prstGeom>
        </p:spPr>
        <p:txBody>
          <a:bodyPr wrap="square" anchor="b"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1. File &amp; Sheet Consolidation</a:t>
            </a:r>
          </a:p>
          <a:p>
            <a:r>
              <a:rPr lang="en-US" dirty="0"/>
              <a:t>Loaded from a multi-sheet Excel file (</a:t>
            </a:r>
            <a:r>
              <a:rPr lang="en-US" dirty="0" err="1"/>
              <a:t>data_set</a:t>
            </a:r>
            <a:r>
              <a:rPr lang="en-US" dirty="0"/>
              <a:t> (1).xlsx)</a:t>
            </a:r>
          </a:p>
          <a:p>
            <a:r>
              <a:rPr lang="en-US" dirty="0"/>
              <a:t>Each sheet (e.g., copper, gold, silver, zinc) was loaded into Power BI</a:t>
            </a:r>
          </a:p>
          <a:p>
            <a:r>
              <a:rPr lang="en-US" dirty="0"/>
              <a:t>Merged into a single data model using the Date column as the key for correlation and trend analysis</a:t>
            </a:r>
          </a:p>
          <a:p>
            <a:r>
              <a:rPr lang="en-US" b="1" dirty="0">
                <a:solidFill>
                  <a:srgbClr val="002060"/>
                </a:solidFill>
              </a:rPr>
              <a:t>2. Data Type Conversion</a:t>
            </a:r>
          </a:p>
          <a:p>
            <a:r>
              <a:rPr lang="en-US" dirty="0"/>
              <a:t>Date column parsed using:</a:t>
            </a:r>
          </a:p>
          <a:p>
            <a:r>
              <a:rPr lang="en-US" dirty="0"/>
              <a:t>Power Query → Change Type → Date</a:t>
            </a:r>
          </a:p>
          <a:p>
            <a:r>
              <a:rPr lang="en-US" dirty="0"/>
              <a:t>Ensured all Close, Open, High, Low, Volume were converted to decimal or whole number</a:t>
            </a:r>
          </a:p>
          <a:p>
            <a:r>
              <a:rPr lang="en-US" b="1" dirty="0">
                <a:solidFill>
                  <a:srgbClr val="002060"/>
                </a:solidFill>
              </a:rPr>
              <a:t>3. Missing Value Imputation</a:t>
            </a:r>
          </a:p>
          <a:p>
            <a:r>
              <a:rPr lang="en-US" dirty="0"/>
              <a:t>Replaced missing or null numeric values using median (performed either in:</a:t>
            </a:r>
          </a:p>
          <a:p>
            <a:r>
              <a:rPr lang="en-US" dirty="0"/>
              <a:t>Power Query (Transform → Replace Values)</a:t>
            </a:r>
          </a:p>
          <a:p>
            <a:r>
              <a:rPr lang="en-US" b="1" dirty="0">
                <a:solidFill>
                  <a:srgbClr val="002060"/>
                </a:solidFill>
              </a:rPr>
              <a:t>4. Outlier Handling</a:t>
            </a:r>
          </a:p>
          <a:p>
            <a:r>
              <a:rPr lang="en-US" dirty="0"/>
              <a:t>Outliers were detected using boxplots and the IQR method</a:t>
            </a:r>
          </a:p>
          <a:p>
            <a:r>
              <a:rPr lang="en-US" dirty="0"/>
              <a:t>No removal in Power BI — flagged visually using scatter plots for anomaly detection</a:t>
            </a:r>
          </a:p>
          <a:p>
            <a:r>
              <a:rPr lang="en-US" b="1" dirty="0">
                <a:solidFill>
                  <a:srgbClr val="002060"/>
                </a:solidFill>
              </a:rPr>
              <a:t>5. Python Script Transformation</a:t>
            </a:r>
          </a:p>
          <a:p>
            <a:r>
              <a:rPr lang="en-US" dirty="0"/>
              <a:t>Used Python visuals in Power BI for:</a:t>
            </a:r>
          </a:p>
          <a:p>
            <a:r>
              <a:rPr lang="en-US" dirty="0"/>
              <a:t>Correlation heatmaps across metals</a:t>
            </a:r>
          </a:p>
          <a:p>
            <a:r>
              <a:rPr lang="en-US" dirty="0"/>
              <a:t>Statistical preprocessing (if applicable) before visualizing relationships</a:t>
            </a:r>
          </a:p>
          <a:p>
            <a:r>
              <a:rPr lang="en-US" b="1" dirty="0">
                <a:solidFill>
                  <a:srgbClr val="002060"/>
                </a:solidFill>
              </a:rPr>
              <a:t>6. Field Cleanup &amp; Standardization</a:t>
            </a:r>
          </a:p>
          <a:p>
            <a:r>
              <a:rPr lang="en-US" dirty="0"/>
              <a:t>Renamed columns consistently (e.g., Copper Close, Gold Close) for cross-comparison</a:t>
            </a:r>
          </a:p>
          <a:p>
            <a:r>
              <a:rPr lang="en-US" dirty="0"/>
              <a:t>Removed extra/unnecessary columns that came from Excel (like unnamed columns)</a:t>
            </a:r>
          </a:p>
          <a:p>
            <a:r>
              <a:rPr lang="en-US" b="1" dirty="0">
                <a:solidFill>
                  <a:srgbClr val="002060"/>
                </a:solidFill>
              </a:rPr>
              <a:t>7. Model Setup in Power BI</a:t>
            </a:r>
          </a:p>
          <a:p>
            <a:r>
              <a:rPr lang="en-US" dirty="0"/>
              <a:t>Data model created with:</a:t>
            </a:r>
          </a:p>
          <a:p>
            <a:r>
              <a:rPr lang="en-US" dirty="0"/>
              <a:t>Unified date table</a:t>
            </a:r>
          </a:p>
          <a:p>
            <a:r>
              <a:rPr lang="en-US" dirty="0"/>
              <a:t>Relationships across metals on Date</a:t>
            </a:r>
          </a:p>
          <a:p>
            <a:r>
              <a:rPr lang="en-US" dirty="0"/>
              <a:t>All metals displayed on a combined dashboard</a:t>
            </a:r>
          </a:p>
        </p:txBody>
      </p:sp>
      <p:pic>
        <p:nvPicPr>
          <p:cNvPr id="5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7FD1D385-A866-44F1-8C23-A3485A11FF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40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D094-8E21-4F87-ACEF-68E90492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</p:spPr>
        <p:txBody>
          <a:bodyPr/>
          <a:lstStyle/>
          <a:p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pic>
        <p:nvPicPr>
          <p:cNvPr id="3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23AEBB6B-A93F-4632-9B1E-C4D1253A5A7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C84FA2-27D5-44BA-81CA-CC743D204CEE}"/>
              </a:ext>
            </a:extLst>
          </p:cNvPr>
          <p:cNvSpPr/>
          <p:nvPr/>
        </p:nvSpPr>
        <p:spPr>
          <a:xfrm>
            <a:off x="228599" y="1028701"/>
            <a:ext cx="11877675" cy="53544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Line Chart, </a:t>
            </a:r>
            <a:r>
              <a:rPr lang="en-US" sz="3200" b="1" dirty="0" err="1">
                <a:solidFill>
                  <a:srgbClr val="002060"/>
                </a:solidFill>
              </a:rPr>
              <a:t>Histogram,Scatter</a:t>
            </a:r>
            <a:r>
              <a:rPr lang="en-US" sz="3200" b="1" dirty="0">
                <a:solidFill>
                  <a:srgbClr val="002060"/>
                </a:solidFill>
              </a:rPr>
              <a:t> and Boxplot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FA8CB-1690-4514-91F2-D7EA34CA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81" y="1701134"/>
            <a:ext cx="2834270" cy="2057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C499A-C127-4AC1-8232-7B643767A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522" y="1666229"/>
            <a:ext cx="3768803" cy="2092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92859-D11A-4587-A508-0263D070C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549" y="1645917"/>
            <a:ext cx="4521716" cy="2092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A11E84-D9B7-4508-921D-EDED20C0B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82" y="3860624"/>
            <a:ext cx="2904040" cy="2549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5CAB9B-7356-4603-AA45-31E9C8CC7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5155" y="3881811"/>
            <a:ext cx="3606170" cy="2528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15D3DE-4465-4261-9174-FA3D4BFE05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172" y="3881811"/>
            <a:ext cx="4640650" cy="254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2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D094-8E21-4F87-ACEF-68E90492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</p:spPr>
        <p:txBody>
          <a:bodyPr/>
          <a:lstStyle/>
          <a:p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pic>
        <p:nvPicPr>
          <p:cNvPr id="3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23AEBB6B-A93F-4632-9B1E-C4D1253A5A7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C84FA2-27D5-44BA-81CA-CC743D204CEE}"/>
              </a:ext>
            </a:extLst>
          </p:cNvPr>
          <p:cNvSpPr/>
          <p:nvPr/>
        </p:nvSpPr>
        <p:spPr>
          <a:xfrm>
            <a:off x="228599" y="1028701"/>
            <a:ext cx="11877675" cy="53544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Heat Map and Histogram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1E9E1D-1AB4-4DA0-9E5F-0829AFF0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98171"/>
            <a:ext cx="5976258" cy="381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FB5F6F-1023-4EC7-BD56-3D9BBB78C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487" y="1698171"/>
            <a:ext cx="532276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6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5053F13-03CA-462C-B1E1-803751BD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5513"/>
            <a:ext cx="10515600" cy="480041"/>
          </a:xfrm>
        </p:spPr>
        <p:txBody>
          <a:bodyPr/>
          <a:lstStyle/>
          <a:p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E2EE23-5CDD-45CB-AD27-8AF543E42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2595294"/>
            <a:ext cx="6639852" cy="383911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923CB51-0C1D-4728-982C-D9CB88DD103B}"/>
              </a:ext>
            </a:extLst>
          </p:cNvPr>
          <p:cNvSpPr/>
          <p:nvPr/>
        </p:nvSpPr>
        <p:spPr>
          <a:xfrm>
            <a:off x="19050" y="1209674"/>
            <a:ext cx="118776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400"/>
            </a:pPr>
            <a:r>
              <a:rPr lang="en-IN" sz="2000" b="1" dirty="0">
                <a:solidFill>
                  <a:srgbClr val="002060"/>
                </a:solidFill>
              </a:rPr>
              <a:t>Combo Line Chart-</a:t>
            </a:r>
            <a:r>
              <a:rPr lang="en-US" sz="1600" dirty="0">
                <a:solidFill>
                  <a:schemeClr val="tx1"/>
                </a:solidFill>
              </a:rPr>
              <a:t>Sum of Open, Sum of Close prices for multiple metals, Count of Month (representing data volume or trading activity)</a:t>
            </a:r>
            <a:endParaRPr lang="en-U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62C3D9-EFB5-48FF-B4C2-54B63C064300}"/>
              </a:ext>
            </a:extLst>
          </p:cNvPr>
          <p:cNvSpPr/>
          <p:nvPr/>
        </p:nvSpPr>
        <p:spPr>
          <a:xfrm>
            <a:off x="7048500" y="2171700"/>
            <a:ext cx="5003800" cy="30861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Key Insights</a:t>
            </a:r>
          </a:p>
          <a:p>
            <a:r>
              <a:rPr lang="en-US" sz="1600" dirty="0"/>
              <a:t>Blue line (Copper Close) shows a steady upward trend from ~$1M in 2010 to ~$2.95M peak in 2022, then slight </a:t>
            </a:r>
            <a:r>
              <a:rPr lang="en-US" sz="1600" dirty="0" err="1"/>
              <a:t>decline.Strong</a:t>
            </a:r>
            <a:r>
              <a:rPr lang="en-US" sz="1600" dirty="0"/>
              <a:t> demand growth post-2016, likely driven by infrastructure expansion and green energy sectors.</a:t>
            </a:r>
          </a:p>
          <a:p>
            <a:r>
              <a:rPr lang="en-US" sz="1600" dirty="0"/>
              <a:t>Copper and Zinc are closely linked in price and demand → potential for paired investment or procurement strategies.Post-2020 demand spikes align with global economic recovery and infrastructure projects.</a:t>
            </a:r>
            <a:endParaRPr lang="en-IN" sz="1600" dirty="0"/>
          </a:p>
        </p:txBody>
      </p:sp>
      <p:pic>
        <p:nvPicPr>
          <p:cNvPr id="32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FCC36391-F247-4A7D-88DF-57BE7CE38D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5053F13-03CA-462C-B1E1-803751BD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5513"/>
            <a:ext cx="10515600" cy="480041"/>
          </a:xfrm>
        </p:spPr>
        <p:txBody>
          <a:bodyPr/>
          <a:lstStyle/>
          <a:p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23CB51-0C1D-4728-982C-D9CB88DD103B}"/>
              </a:ext>
            </a:extLst>
          </p:cNvPr>
          <p:cNvSpPr/>
          <p:nvPr/>
        </p:nvSpPr>
        <p:spPr>
          <a:xfrm>
            <a:off x="19050" y="1209674"/>
            <a:ext cx="118776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400"/>
            </a:pPr>
            <a:r>
              <a:rPr lang="en-IN" sz="2000" b="1" dirty="0">
                <a:solidFill>
                  <a:srgbClr val="002060"/>
                </a:solidFill>
              </a:rPr>
              <a:t>Clustered Column Chart-</a:t>
            </a:r>
            <a:r>
              <a:rPr lang="en-US" sz="1600" dirty="0">
                <a:solidFill>
                  <a:schemeClr val="tx1"/>
                </a:solidFill>
              </a:rPr>
              <a:t> X-Axis: Quarter-Year (e.g., Q2 2020, Q3 2020...)Y-Axis: Close Price (in $)</a:t>
            </a:r>
            <a:endParaRPr lang="en-US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62C3D9-EFB5-48FF-B4C2-54B63C064300}"/>
              </a:ext>
            </a:extLst>
          </p:cNvPr>
          <p:cNvSpPr/>
          <p:nvPr/>
        </p:nvSpPr>
        <p:spPr>
          <a:xfrm>
            <a:off x="7048500" y="2171700"/>
            <a:ext cx="5003800" cy="30861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Key Insights</a:t>
            </a:r>
          </a:p>
          <a:p>
            <a:r>
              <a:rPr lang="en-US" sz="1600" dirty="0"/>
              <a:t>Copper prices have dropped consistently from $286.93 in Q2 2020 to $238.04 by Q1 2023Indicates a gradual cooling in market demand after the peak years of recovery (2020–2021)</a:t>
            </a:r>
          </a:p>
          <a:p>
            <a:r>
              <a:rPr lang="en-US" sz="1600" dirty="0"/>
              <a:t>The early quarters (Q2 2020 to Q1 2021) likely reflect stimulus-driven </a:t>
            </a:r>
            <a:r>
              <a:rPr lang="en-US" sz="1600" dirty="0" err="1"/>
              <a:t>demandStarting</a:t>
            </a:r>
            <a:r>
              <a:rPr lang="en-US" sz="1600" dirty="0"/>
              <a:t> Q2 2021, the prices begin to soften, aligning </a:t>
            </a:r>
            <a:r>
              <a:rPr lang="en-US" sz="1600" dirty="0" err="1"/>
              <a:t>with:Global</a:t>
            </a:r>
            <a:r>
              <a:rPr lang="en-US" sz="1600" dirty="0"/>
              <a:t> economic </a:t>
            </a:r>
            <a:r>
              <a:rPr lang="en-US" sz="1600" dirty="0" err="1"/>
              <a:t>tighteningReduced</a:t>
            </a:r>
            <a:r>
              <a:rPr lang="en-US" sz="1600" dirty="0"/>
              <a:t> construction &amp; manufacturing </a:t>
            </a:r>
            <a:r>
              <a:rPr lang="en-US" sz="1600" dirty="0" err="1"/>
              <a:t>growthRising</a:t>
            </a:r>
            <a:r>
              <a:rPr lang="en-US" sz="1600" dirty="0"/>
              <a:t> interest rates and inflation control policies</a:t>
            </a:r>
            <a:endParaRPr lang="en-IN" sz="1600" dirty="0"/>
          </a:p>
        </p:txBody>
      </p:sp>
      <p:pic>
        <p:nvPicPr>
          <p:cNvPr id="32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FCC36391-F247-4A7D-88DF-57BE7CE38D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26169E-543D-46C5-A1D0-BD72B50D9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2171700"/>
            <a:ext cx="4639322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07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4D8C99-7268-4497-9626-4A7D0410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</p:spPr>
        <p:txBody>
          <a:bodyPr/>
          <a:lstStyle/>
          <a:p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–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D4B02-7353-42AE-928E-9516ECFA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" y="870856"/>
            <a:ext cx="12175090" cy="598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63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3356D4-5E79-4D05-9E5C-36821FF8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4739"/>
            <a:ext cx="10515600" cy="521590"/>
          </a:xfrm>
        </p:spPr>
        <p:txBody>
          <a:bodyPr/>
          <a:lstStyle/>
          <a:p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– Dashboard-</a:t>
            </a:r>
            <a:r>
              <a:rPr lang="en-IN" b="1" dirty="0"/>
              <a:t>Insights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FC5734-AD68-4D16-9860-89FD901B11A7}"/>
              </a:ext>
            </a:extLst>
          </p:cNvPr>
          <p:cNvSpPr/>
          <p:nvPr/>
        </p:nvSpPr>
        <p:spPr>
          <a:xfrm>
            <a:off x="0" y="881743"/>
            <a:ext cx="12192000" cy="5257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Copper Price vs Volume Trends (Top-Left &amp; Top-Middle Visuals)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Copper and Zinc dominate close price trends, showing strong industrial demand over </a:t>
            </a:r>
            <a:r>
              <a:rPr lang="en-US" b="1" dirty="0" err="1">
                <a:solidFill>
                  <a:srgbClr val="002060"/>
                </a:solidFill>
              </a:rPr>
              <a:t>time.Peak</a:t>
            </a:r>
            <a:r>
              <a:rPr lang="en-US" b="1" dirty="0">
                <a:solidFill>
                  <a:srgbClr val="002060"/>
                </a:solidFill>
              </a:rPr>
              <a:t> price observed around 2021–2022, aligned with post-COVID infrastructure </a:t>
            </a:r>
            <a:r>
              <a:rPr lang="en-US" b="1" dirty="0" err="1">
                <a:solidFill>
                  <a:srgbClr val="002060"/>
                </a:solidFill>
              </a:rPr>
              <a:t>boom.Sharp</a:t>
            </a:r>
            <a:r>
              <a:rPr lang="en-US" b="1" dirty="0">
                <a:solidFill>
                  <a:srgbClr val="002060"/>
                </a:solidFill>
              </a:rPr>
              <a:t> decline in 2025 indicates either incomplete data or early signs of demand correction.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Volume Trends Show Market Shifts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Copper’s volume peaked around 2019–2021, then gradually </a:t>
            </a:r>
            <a:r>
              <a:rPr lang="en-US" b="1" dirty="0" err="1">
                <a:solidFill>
                  <a:srgbClr val="002060"/>
                </a:solidFill>
              </a:rPr>
              <a:t>declined.Zinc</a:t>
            </a:r>
            <a:r>
              <a:rPr lang="en-US" b="1" dirty="0">
                <a:solidFill>
                  <a:srgbClr val="002060"/>
                </a:solidFill>
              </a:rPr>
              <a:t> and Steel also show similar volume patterns, reflecting synchronized demand behavior in industrial sectors.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Price Distribution &amp; Correlation (Bottom Row Visuals)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Histogram (Bottom-Right):</a:t>
            </a:r>
          </a:p>
          <a:p>
            <a:r>
              <a:rPr lang="en-US" b="1" dirty="0">
                <a:solidFill>
                  <a:srgbClr val="002060"/>
                </a:solidFill>
              </a:rPr>
              <a:t>Copper’s Close Prices mostly range between $2.5 and $4.5</a:t>
            </a:r>
          </a:p>
          <a:p>
            <a:r>
              <a:rPr lang="en-US" b="1" dirty="0">
                <a:solidFill>
                  <a:srgbClr val="002060"/>
                </a:solidFill>
              </a:rPr>
              <a:t>Suggests market typically stabilizes in this range over the years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Scatter Plot (Bottom-Middle):</a:t>
            </a:r>
          </a:p>
          <a:p>
            <a:r>
              <a:rPr lang="en-US" b="1" dirty="0">
                <a:solidFill>
                  <a:srgbClr val="002060"/>
                </a:solidFill>
              </a:rPr>
              <a:t>Strong linear correlation between Copper Open and Close prices</a:t>
            </a:r>
          </a:p>
          <a:p>
            <a:r>
              <a:rPr lang="en-US" b="1" dirty="0">
                <a:solidFill>
                  <a:srgbClr val="002060"/>
                </a:solidFill>
              </a:rPr>
              <a:t>Indicates stable intraday price movement, minimal speculation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Bar Plot (Bottom-Left):</a:t>
            </a:r>
          </a:p>
          <a:p>
            <a:r>
              <a:rPr lang="en-US" b="1" dirty="0">
                <a:solidFill>
                  <a:srgbClr val="002060"/>
                </a:solidFill>
              </a:rPr>
              <a:t>Shows distribution across all metals for comparative insights</a:t>
            </a:r>
          </a:p>
          <a:p>
            <a:r>
              <a:rPr lang="en-US" b="1" dirty="0">
                <a:solidFill>
                  <a:srgbClr val="002060"/>
                </a:solidFill>
              </a:rPr>
              <a:t>Copper and Zinc again lead in value contribution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13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C6F33437-9AE7-4300-9930-6D6223EF10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6297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3356D4-5E79-4D05-9E5C-36821FF8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5513"/>
            <a:ext cx="10515600" cy="480041"/>
          </a:xfrm>
        </p:spPr>
        <p:txBody>
          <a:bodyPr/>
          <a:lstStyle/>
          <a:p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FC5734-AD68-4D16-9860-89FD901B11A7}"/>
              </a:ext>
            </a:extLst>
          </p:cNvPr>
          <p:cNvSpPr/>
          <p:nvPr/>
        </p:nvSpPr>
        <p:spPr>
          <a:xfrm>
            <a:off x="0" y="881743"/>
            <a:ext cx="12192000" cy="5257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13" name="Google Shape;76;p1" descr="360DigiTMG Reviews - 52 Reviews of 360digitmg.com | Sitejabber">
            <a:extLst>
              <a:ext uri="{FF2B5EF4-FFF2-40B4-BE49-F238E27FC236}">
                <a16:creationId xmlns:a16="http://schemas.microsoft.com/office/drawing/2014/main" id="{C6F33437-9AE7-4300-9930-6D6223EF10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CA0713-AA94-406B-AA74-BFC128070AED}"/>
              </a:ext>
            </a:extLst>
          </p:cNvPr>
          <p:cNvSpPr txBox="1"/>
          <p:nvPr/>
        </p:nvSpPr>
        <p:spPr>
          <a:xfrm>
            <a:off x="518160" y="1361440"/>
            <a:ext cx="110845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Copper prices surged between 2016 and 2022, driven by global infrastructure, green energy, and manufacturing </a:t>
            </a:r>
            <a:r>
              <a:rPr lang="en-US" sz="24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demand.A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downward correction post-2022 suggests market normalization or early signs of demand </a:t>
            </a:r>
            <a:r>
              <a:rPr lang="en-US" sz="2400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softening.Strong</a:t>
            </a:r>
            <a:r>
              <a:rPr lang="en-US" sz="2400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correlation with Zinc and Steel highlights copper’s interconnectedness with industrial sectors.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Forecast metal demand cycles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Improve purchase timing </a:t>
            </a:r>
            <a:r>
              <a:rPr lang="en-US" sz="2400">
                <a:solidFill>
                  <a:srgbClr val="002060"/>
                </a:solidFill>
                <a:latin typeface="+mn-lt"/>
              </a:rPr>
              <a:t>and budgeting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002060"/>
                </a:solidFill>
                <a:latin typeface="+mn-lt"/>
              </a:rPr>
              <a:t>Analyze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market risks and opportunities across metals</a:t>
            </a:r>
            <a:endParaRPr lang="en-GB" sz="2400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9976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36576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1335</Words>
  <Application>Microsoft Office PowerPoint</Application>
  <PresentationFormat>Widescreen</PresentationFormat>
  <Paragraphs>146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Georgia</vt:lpstr>
      <vt:lpstr>Times New Roman</vt:lpstr>
      <vt:lpstr>Wingdings</vt:lpstr>
      <vt:lpstr>Office Theme</vt:lpstr>
      <vt:lpstr>Copper Demand Analysis *Data-Driven Insights for Strategic Decision-Making*</vt:lpstr>
      <vt:lpstr>Contents</vt:lpstr>
      <vt:lpstr>Business Problem/ Objective/ Constraints</vt:lpstr>
      <vt:lpstr>Project Architecture - Data Flow Diagram</vt:lpstr>
      <vt:lpstr>Project Overview and Scope</vt:lpstr>
      <vt:lpstr>Data Dictionary </vt:lpstr>
      <vt:lpstr>Exploratory Data Analysis [EDA]</vt:lpstr>
      <vt:lpstr>Data Preprocessing</vt:lpstr>
      <vt:lpstr>Data Visualization </vt:lpstr>
      <vt:lpstr>Data Visualization </vt:lpstr>
      <vt:lpstr>Data Visualization </vt:lpstr>
      <vt:lpstr>Data Visualization </vt:lpstr>
      <vt:lpstr>Data Visualization – Dashboard</vt:lpstr>
      <vt:lpstr>Data Visualization – Dashboard-Insights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Copper Demand Analysis *Data-Driven Insights for Strategic Decision-Making*</dc:title>
  <dc:creator>VIKAS BARTHWAL</dc:creator>
  <cp:lastModifiedBy>Sathiya Selvan</cp:lastModifiedBy>
  <cp:revision>42</cp:revision>
  <dcterms:created xsi:type="dcterms:W3CDTF">2022-02-16T01:47:29Z</dcterms:created>
  <dcterms:modified xsi:type="dcterms:W3CDTF">2025-04-24T08:42:29Z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