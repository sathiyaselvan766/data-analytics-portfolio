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trictFirstAndLastChars="0" saveSubsetFonts="1" autoCompressPictures="0">
  <p:sldMasterIdLst>
    <p:sldMasterId id="2147483808" r:id="rId1"/>
  </p:sldMasterIdLst>
  <p:notesMasterIdLst>
    <p:notesMasterId r:id="rId20"/>
  </p:notesMasterIdLst>
  <p:sldIdLst>
    <p:sldId id="256" r:id="rId2"/>
    <p:sldId id="281" r:id="rId3"/>
    <p:sldId id="266" r:id="rId4"/>
    <p:sldId id="267" r:id="rId5"/>
    <p:sldId id="258" r:id="rId6"/>
    <p:sldId id="265" r:id="rId7"/>
    <p:sldId id="282" r:id="rId8"/>
    <p:sldId id="260" r:id="rId9"/>
    <p:sldId id="261" r:id="rId10"/>
    <p:sldId id="262" r:id="rId11"/>
    <p:sldId id="278" r:id="rId12"/>
    <p:sldId id="268" r:id="rId13"/>
    <p:sldId id="263" r:id="rId14"/>
    <p:sldId id="269" r:id="rId15"/>
    <p:sldId id="270" r:id="rId16"/>
    <p:sldId id="280" r:id="rId17"/>
    <p:sldId id="277" r:id="rId18"/>
    <p:sldId id="26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21FB798-D894-4062-B2CF-C70CD42672DE}">
          <p14:sldIdLst>
            <p14:sldId id="256"/>
            <p14:sldId id="281"/>
            <p14:sldId id="266"/>
            <p14:sldId id="267"/>
            <p14:sldId id="258"/>
            <p14:sldId id="265"/>
            <p14:sldId id="282"/>
            <p14:sldId id="260"/>
            <p14:sldId id="261"/>
            <p14:sldId id="262"/>
            <p14:sldId id="278"/>
            <p14:sldId id="268"/>
            <p14:sldId id="263"/>
            <p14:sldId id="269"/>
            <p14:sldId id="270"/>
            <p14:sldId id="280"/>
            <p14:sldId id="277"/>
            <p14:sldId id="264"/>
          </p14:sldIdLst>
        </p14:section>
      </p14:sectionLst>
    </p:ext>
    <p:ext uri="{EFAFB233-063F-42B5-8137-9DF3F51BA10A}">
      <p15:sldGuideLst xmlns:p15="http://schemas.microsoft.com/office/powerpoint/2012/main">
        <p15:guide id="1" orient="horz" pos="1570">
          <p15:clr>
            <a:srgbClr val="9AA0A6"/>
          </p15:clr>
        </p15:guide>
        <p15:guide id="2" pos="5868">
          <p15:clr>
            <a:srgbClr val="9AA0A6"/>
          </p15:clr>
        </p15:guide>
        <p15:guide id="3" orient="horz" pos="1571">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8" roundtripDataSignature="AMtx7mhXQ1N1MafN4fY+Bs9ldogAdiZ6Cg=="/>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3C8D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355" y="48"/>
      </p:cViewPr>
      <p:guideLst>
        <p:guide orient="horz" pos="1570"/>
        <p:guide pos="5868"/>
        <p:guide orient="horz" pos="157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microsoft.com/office/2018/10/relationships/authors" Targe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8"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 name="Google Shape;70;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906D61AD-9D2A-6606-7AC7-21E52182D272}"/>
            </a:ext>
          </a:extLst>
        </p:cNvPr>
        <p:cNvGrpSpPr/>
        <p:nvPr/>
      </p:nvGrpSpPr>
      <p:grpSpPr>
        <a:xfrm>
          <a:off x="0" y="0"/>
          <a:ext cx="0" cy="0"/>
          <a:chOff x="0" y="0"/>
          <a:chExt cx="0" cy="0"/>
        </a:xfrm>
      </p:grpSpPr>
      <p:sp>
        <p:nvSpPr>
          <p:cNvPr id="69" name="Google Shape;69;p1:notes">
            <a:extLst>
              <a:ext uri="{FF2B5EF4-FFF2-40B4-BE49-F238E27FC236}">
                <a16:creationId xmlns:a16="http://schemas.microsoft.com/office/drawing/2014/main" id="{FD37596A-93C4-009E-2412-516E523AA1F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 name="Google Shape;70;p1:notes">
            <a:extLst>
              <a:ext uri="{FF2B5EF4-FFF2-40B4-BE49-F238E27FC236}">
                <a16:creationId xmlns:a16="http://schemas.microsoft.com/office/drawing/2014/main" id="{012DA9B5-AAE8-AA32-3F2E-548CB41DB2F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463826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a:extLst>
            <a:ext uri="{FF2B5EF4-FFF2-40B4-BE49-F238E27FC236}">
              <a16:creationId xmlns:a16="http://schemas.microsoft.com/office/drawing/2014/main" id="{FD66602D-2DEB-1768-D3F6-3DF091EA7D05}"/>
            </a:ext>
          </a:extLst>
        </p:cNvPr>
        <p:cNvGrpSpPr/>
        <p:nvPr/>
      </p:nvGrpSpPr>
      <p:grpSpPr>
        <a:xfrm>
          <a:off x="0" y="0"/>
          <a:ext cx="0" cy="0"/>
          <a:chOff x="0" y="0"/>
          <a:chExt cx="0" cy="0"/>
        </a:xfrm>
      </p:grpSpPr>
      <p:sp>
        <p:nvSpPr>
          <p:cNvPr id="103" name="Google Shape;103;p15:notes">
            <a:extLst>
              <a:ext uri="{FF2B5EF4-FFF2-40B4-BE49-F238E27FC236}">
                <a16:creationId xmlns:a16="http://schemas.microsoft.com/office/drawing/2014/main" id="{D264E8BC-A580-8B38-D94A-8833E863D9B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 name="Google Shape;104;p15:notes">
            <a:extLst>
              <a:ext uri="{FF2B5EF4-FFF2-40B4-BE49-F238E27FC236}">
                <a16:creationId xmlns:a16="http://schemas.microsoft.com/office/drawing/2014/main" id="{C36A6342-46BB-5BEF-14D3-35C5EA9735D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968102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 name="Google Shape;104;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
        <p:nvSpPr>
          <p:cNvPr id="110" name="Google Shape;110;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5" name="Google Shape;125;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
        <p:nvSpPr>
          <p:cNvPr id="126" name="Google Shape;126;p3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10</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
        <p:nvSpPr>
          <p:cNvPr id="134" name="Google Shape;134;p3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13</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6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endParaRPr lang="en-GB"/>
          </a:p>
        </p:txBody>
      </p:sp>
      <p:sp>
        <p:nvSpPr>
          <p:cNvPr id="5" name="Footer Placeholder 4"/>
          <p:cNvSpPr>
            <a:spLocks noGrp="1"/>
          </p:cNvSpPr>
          <p:nvPr>
            <p:ph type="ftr" sz="quarter" idx="11"/>
          </p:nvPr>
        </p:nvSpPr>
        <p:spPr>
          <a:xfrm>
            <a:off x="1876424" y="5410201"/>
            <a:ext cx="5124886" cy="365125"/>
          </a:xfrm>
        </p:spPr>
        <p:txBody>
          <a:bodyPr/>
          <a:lstStyle/>
          <a:p>
            <a:endParaRPr lang="en-GB"/>
          </a:p>
        </p:txBody>
      </p:sp>
      <p:sp>
        <p:nvSpPr>
          <p:cNvPr id="6" name="Slide Number Placeholder 5"/>
          <p:cNvSpPr>
            <a:spLocks noGrp="1"/>
          </p:cNvSpPr>
          <p:nvPr>
            <p:ph type="sldNum" sz="quarter" idx="12"/>
          </p:nvPr>
        </p:nvSpPr>
        <p:spPr>
          <a:xfrm>
            <a:off x="9896911" y="5410199"/>
            <a:ext cx="771089" cy="365125"/>
          </a:xfrm>
        </p:spPr>
        <p:txBody>
          <a:bodyPr/>
          <a:lstStyle/>
          <a:p>
            <a:pPr marL="0" lvl="0" indent="0" algn="r" rtl="0">
              <a:spcBef>
                <a:spcPts val="0"/>
              </a:spcBef>
              <a:spcAft>
                <a:spcPts val="0"/>
              </a:spcAft>
              <a:buNone/>
            </a:pPr>
            <a:fld id="{00000000-1234-1234-1234-123412341234}" type="slidenum">
              <a:rPr lang="en-US" smtClean="0"/>
              <a:t>‹#›</a:t>
            </a:fld>
            <a:endParaRPr lang="en-US" sz="1500">
              <a:solidFill>
                <a:srgbClr val="000000"/>
              </a:solidFill>
              <a:latin typeface="Arial"/>
              <a:ea typeface="Arial"/>
              <a:cs typeface="Arial"/>
              <a:sym typeface="Arial"/>
            </a:endParaRPr>
          </a:p>
        </p:txBody>
      </p:sp>
    </p:spTree>
    <p:extLst>
      <p:ext uri="{BB962C8B-B14F-4D97-AF65-F5344CB8AC3E}">
        <p14:creationId xmlns:p14="http://schemas.microsoft.com/office/powerpoint/2010/main" val="2727671356"/>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0403796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1407315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sz="1500">
              <a:solidFill>
                <a:srgbClr val="000000"/>
              </a:solidFill>
              <a:latin typeface="Arial"/>
              <a:ea typeface="Arial"/>
              <a:cs typeface="Arial"/>
              <a:sym typeface="Arial"/>
            </a:endParaRPr>
          </a:p>
        </p:txBody>
      </p:sp>
    </p:spTree>
    <p:extLst>
      <p:ext uri="{BB962C8B-B14F-4D97-AF65-F5344CB8AC3E}">
        <p14:creationId xmlns:p14="http://schemas.microsoft.com/office/powerpoint/2010/main" val="4061766297"/>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sz="1500">
              <a:solidFill>
                <a:srgbClr val="000000"/>
              </a:solidFill>
              <a:latin typeface="Arial"/>
              <a:ea typeface="Arial"/>
              <a:cs typeface="Arial"/>
              <a:sym typeface="Arial"/>
            </a:endParaRPr>
          </a:p>
        </p:txBody>
      </p:sp>
    </p:spTree>
    <p:extLst>
      <p:ext uri="{BB962C8B-B14F-4D97-AF65-F5344CB8AC3E}">
        <p14:creationId xmlns:p14="http://schemas.microsoft.com/office/powerpoint/2010/main" val="3449890902"/>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7048540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sz="1500">
              <a:solidFill>
                <a:srgbClr val="000000"/>
              </a:solidFill>
              <a:latin typeface="Arial"/>
              <a:ea typeface="Arial"/>
              <a:cs typeface="Arial"/>
              <a:sym typeface="Arial"/>
            </a:endParaRPr>
          </a:p>
        </p:txBody>
      </p:sp>
    </p:spTree>
    <p:extLst>
      <p:ext uri="{BB962C8B-B14F-4D97-AF65-F5344CB8AC3E}">
        <p14:creationId xmlns:p14="http://schemas.microsoft.com/office/powerpoint/2010/main" val="1721729573"/>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6998291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sz="1500">
              <a:solidFill>
                <a:srgbClr val="000000"/>
              </a:solidFill>
              <a:latin typeface="Arial"/>
              <a:ea typeface="Arial"/>
              <a:cs typeface="Arial"/>
              <a:sym typeface="Arial"/>
            </a:endParaRPr>
          </a:p>
        </p:txBody>
      </p:sp>
    </p:spTree>
    <p:extLst>
      <p:ext uri="{BB962C8B-B14F-4D97-AF65-F5344CB8AC3E}">
        <p14:creationId xmlns:p14="http://schemas.microsoft.com/office/powerpoint/2010/main" val="2879810534"/>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sz="1500">
              <a:solidFill>
                <a:srgbClr val="000000"/>
              </a:solidFill>
              <a:latin typeface="Arial"/>
              <a:ea typeface="Arial"/>
              <a:cs typeface="Arial"/>
              <a:sym typeface="Arial"/>
            </a:endParaRPr>
          </a:p>
        </p:txBody>
      </p:sp>
    </p:spTree>
    <p:extLst>
      <p:ext uri="{BB962C8B-B14F-4D97-AF65-F5344CB8AC3E}">
        <p14:creationId xmlns:p14="http://schemas.microsoft.com/office/powerpoint/2010/main" val="22571974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sz="1500">
              <a:solidFill>
                <a:srgbClr val="000000"/>
              </a:solidFill>
              <a:latin typeface="Arial"/>
              <a:ea typeface="Arial"/>
              <a:cs typeface="Arial"/>
              <a:sym typeface="Arial"/>
            </a:endParaRPr>
          </a:p>
        </p:txBody>
      </p:sp>
    </p:spTree>
    <p:extLst>
      <p:ext uri="{BB962C8B-B14F-4D97-AF65-F5344CB8AC3E}">
        <p14:creationId xmlns:p14="http://schemas.microsoft.com/office/powerpoint/2010/main" val="2113339260"/>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sz="1500">
              <a:solidFill>
                <a:srgbClr val="000000"/>
              </a:solidFill>
              <a:latin typeface="Arial"/>
              <a:ea typeface="Arial"/>
              <a:cs typeface="Arial"/>
              <a:sym typeface="Arial"/>
            </a:endParaRPr>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737955297"/>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sz="1500">
              <a:solidFill>
                <a:srgbClr val="000000"/>
              </a:solidFill>
              <a:latin typeface="Arial"/>
              <a:ea typeface="Arial"/>
              <a:cs typeface="Arial"/>
              <a:sym typeface="Arial"/>
            </a:endParaRPr>
          </a:p>
        </p:txBody>
      </p:sp>
    </p:spTree>
    <p:extLst>
      <p:ext uri="{BB962C8B-B14F-4D97-AF65-F5344CB8AC3E}">
        <p14:creationId xmlns:p14="http://schemas.microsoft.com/office/powerpoint/2010/main" val="3223510732"/>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sz="1500">
              <a:solidFill>
                <a:srgbClr val="000000"/>
              </a:solidFill>
              <a:latin typeface="Arial"/>
              <a:ea typeface="Arial"/>
              <a:cs typeface="Arial"/>
              <a:sym typeface="Arial"/>
            </a:endParaRPr>
          </a:p>
        </p:txBody>
      </p:sp>
    </p:spTree>
    <p:extLst>
      <p:ext uri="{BB962C8B-B14F-4D97-AF65-F5344CB8AC3E}">
        <p14:creationId xmlns:p14="http://schemas.microsoft.com/office/powerpoint/2010/main" val="2456994618"/>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sz="1500">
              <a:solidFill>
                <a:srgbClr val="000000"/>
              </a:solidFill>
              <a:latin typeface="Arial"/>
              <a:ea typeface="Arial"/>
              <a:cs typeface="Arial"/>
              <a:sym typeface="Arial"/>
            </a:endParaRPr>
          </a:p>
        </p:txBody>
      </p:sp>
    </p:spTree>
    <p:extLst>
      <p:ext uri="{BB962C8B-B14F-4D97-AF65-F5344CB8AC3E}">
        <p14:creationId xmlns:p14="http://schemas.microsoft.com/office/powerpoint/2010/main" val="2487775030"/>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8717880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60046426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26"/>
        <p:cNvGrpSpPr/>
        <p:nvPr/>
      </p:nvGrpSpPr>
      <p:grpSpPr>
        <a:xfrm>
          <a:off x="0" y="0"/>
          <a:ext cx="0" cy="0"/>
          <a:chOff x="0" y="0"/>
          <a:chExt cx="0" cy="0"/>
        </a:xfrm>
      </p:grpSpPr>
      <p:sp>
        <p:nvSpPr>
          <p:cNvPr id="28" name="Google Shape;28;p61"/>
          <p:cNvSpPr txBox="1">
            <a:spLocks noGrp="1"/>
          </p:cNvSpPr>
          <p:nvPr>
            <p:ph type="title"/>
          </p:nvPr>
        </p:nvSpPr>
        <p:spPr>
          <a:xfrm>
            <a:off x="228600" y="184714"/>
            <a:ext cx="10515600" cy="521639"/>
          </a:xfrm>
          <a:prstGeom prst="rect">
            <a:avLst/>
          </a:prstGeom>
          <a:noFill/>
          <a:ln>
            <a:noFill/>
          </a:ln>
        </p:spPr>
        <p:txBody>
          <a:bodyPr spcFirstLastPara="1" wrap="square" lIns="91400" tIns="45675" rIns="91400" bIns="45675" anchor="ctr" anchorCtr="0">
            <a:spAutoFit/>
          </a:bodyPr>
          <a:lstStyle>
            <a:lvl1pPr lvl="0" algn="l">
              <a:lnSpc>
                <a:spcPct val="90000"/>
              </a:lnSpc>
              <a:spcBef>
                <a:spcPts val="0"/>
              </a:spcBef>
              <a:spcAft>
                <a:spcPts val="0"/>
              </a:spcAft>
              <a:buClr>
                <a:schemeClr val="dk1"/>
              </a:buClr>
              <a:buSzPts val="2300"/>
              <a:buFont typeface="Georgia"/>
              <a:buNone/>
              <a:defRPr sz="3100">
                <a:solidFill>
                  <a:schemeClr val="dk1"/>
                </a:solidFill>
                <a:latin typeface="Georgia"/>
                <a:ea typeface="Georgia"/>
                <a:cs typeface="Georgia"/>
                <a:sym typeface="Georgi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9" name="Google Shape;29;p61"/>
          <p:cNvSpPr txBox="1">
            <a:spLocks noGrp="1"/>
          </p:cNvSpPr>
          <p:nvPr>
            <p:ph type="sldNum" idx="12"/>
          </p:nvPr>
        </p:nvSpPr>
        <p:spPr>
          <a:xfrm>
            <a:off x="11639552" y="6350000"/>
            <a:ext cx="390525" cy="288925"/>
          </a:xfrm>
          <a:prstGeom prst="rect">
            <a:avLst/>
          </a:prstGeom>
          <a:noFill/>
          <a:ln>
            <a:noFill/>
          </a:ln>
        </p:spPr>
        <p:txBody>
          <a:bodyPr spcFirstLastPara="1" wrap="square" lIns="91400" tIns="45675" rIns="91400" bIns="45675"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5616072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20">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endParaRPr lang="en-GB"/>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pPr marL="0" lvl="0" indent="0" algn="r" rtl="0">
              <a:spcBef>
                <a:spcPts val="0"/>
              </a:spcBef>
              <a:spcAft>
                <a:spcPts val="0"/>
              </a:spcAft>
              <a:buNone/>
            </a:pPr>
            <a:fld id="{00000000-1234-1234-1234-123412341234}" type="slidenum">
              <a:rPr lang="en-US" smtClean="0"/>
              <a:t>‹#›</a:t>
            </a:fld>
            <a:endParaRPr lang="en-US" sz="1500">
              <a:solidFill>
                <a:srgbClr val="000000"/>
              </a:solidFill>
              <a:latin typeface="Arial"/>
              <a:ea typeface="Arial"/>
              <a:cs typeface="Arial"/>
              <a:sym typeface="Arial"/>
            </a:endParaRPr>
          </a:p>
        </p:txBody>
      </p:sp>
    </p:spTree>
    <p:extLst>
      <p:ext uri="{BB962C8B-B14F-4D97-AF65-F5344CB8AC3E}">
        <p14:creationId xmlns:p14="http://schemas.microsoft.com/office/powerpoint/2010/main" val="4211008117"/>
      </p:ext>
    </p:extLst>
  </p:cSld>
  <p:clrMap bg1="dk1" tx1="lt1" bg2="dk2" tx2="lt2" accent1="accent1" accent2="accent2" accent3="accent3" accent4="accent4" accent5="accent5" accent6="accent6" hlink="hlink" folHlink="folHlink"/>
  <p:sldLayoutIdLst>
    <p:sldLayoutId id="2147483809" r:id="rId1"/>
    <p:sldLayoutId id="2147483810" r:id="rId2"/>
    <p:sldLayoutId id="2147483811" r:id="rId3"/>
    <p:sldLayoutId id="2147483812" r:id="rId4"/>
    <p:sldLayoutId id="2147483813" r:id="rId5"/>
    <p:sldLayoutId id="2147483814" r:id="rId6"/>
    <p:sldLayoutId id="2147483815" r:id="rId7"/>
    <p:sldLayoutId id="2147483816" r:id="rId8"/>
    <p:sldLayoutId id="2147483817" r:id="rId9"/>
    <p:sldLayoutId id="2147483818" r:id="rId10"/>
    <p:sldLayoutId id="2147483819" r:id="rId11"/>
    <p:sldLayoutId id="2147483820" r:id="rId12"/>
    <p:sldLayoutId id="2147483821" r:id="rId13"/>
    <p:sldLayoutId id="2147483822" r:id="rId14"/>
    <p:sldLayoutId id="2147483823" r:id="rId15"/>
    <p:sldLayoutId id="2147483824" r:id="rId16"/>
    <p:sldLayoutId id="2147483825" r:id="rId17"/>
    <p:sldLayoutId id="2147483826" r:id="rId18"/>
  </p:sldLayoutIdLst>
  <p:hf sldNum="0" hdr="0" ftr="0" dt="0"/>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jp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6.jpg"/><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jp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jpg"/><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jpg"/><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8.xml"/><Relationship Id="rId1" Type="http://schemas.openxmlformats.org/officeDocument/2006/relationships/slideLayout" Target="../slideLayouts/slideLayout18.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jpg"/><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jpg"/><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jpg"/><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4.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3" name="Google Shape;73;p1"/>
          <p:cNvSpPr txBox="1">
            <a:spLocks noGrp="1"/>
          </p:cNvSpPr>
          <p:nvPr>
            <p:ph idx="1"/>
          </p:nvPr>
        </p:nvSpPr>
        <p:spPr>
          <a:xfrm>
            <a:off x="838200" y="1353010"/>
            <a:ext cx="10515600" cy="5139863"/>
          </a:xfrm>
          <a:prstGeom prst="rect">
            <a:avLst/>
          </a:prstGeom>
          <a:noFill/>
          <a:ln>
            <a:noFill/>
          </a:ln>
        </p:spPr>
        <p:txBody>
          <a:bodyPr spcFirstLastPara="1" wrap="square" lIns="91400" tIns="45675" rIns="91400" bIns="45675" anchor="t" anchorCtr="0">
            <a:normAutofit/>
          </a:bodyPr>
          <a:lstStyle/>
          <a:p>
            <a:pPr marL="457200" lvl="0" indent="-228600" algn="just" rtl="0">
              <a:lnSpc>
                <a:spcPct val="90000"/>
              </a:lnSpc>
              <a:spcBef>
                <a:spcPts val="1000"/>
              </a:spcBef>
              <a:spcAft>
                <a:spcPts val="0"/>
              </a:spcAft>
              <a:buClr>
                <a:schemeClr val="dk1"/>
              </a:buClr>
              <a:buSzPts val="1800"/>
              <a:buNone/>
            </a:pPr>
            <a:r>
              <a:rPr lang="en-US" sz="2000" b="1" dirty="0">
                <a:solidFill>
                  <a:schemeClr val="bg1"/>
                </a:solidFill>
              </a:rPr>
              <a:t>	The project focuses on analyzing and optimizing IVF clinical outcomes by identifying key success indicators from patient and treatment data, with the objective of improving success rates, reducing clinical variability, and enhancing patient satisfaction through data-driven strategies.</a:t>
            </a:r>
            <a:endParaRPr sz="2000" b="1" dirty="0">
              <a:solidFill>
                <a:schemeClr val="bg1"/>
              </a:solidFill>
            </a:endParaRPr>
          </a:p>
        </p:txBody>
      </p:sp>
      <p:pic>
        <p:nvPicPr>
          <p:cNvPr id="75" name="Google Shape;75;p1"/>
          <p:cNvPicPr preferRelativeResize="0"/>
          <p:nvPr/>
        </p:nvPicPr>
        <p:blipFill rotWithShape="1">
          <a:blip r:embed="rId3">
            <a:alphaModFix/>
          </a:blip>
          <a:srcRect/>
          <a:stretch/>
        </p:blipFill>
        <p:spPr>
          <a:xfrm>
            <a:off x="14086508" y="11637873"/>
            <a:ext cx="158226" cy="163709"/>
          </a:xfrm>
          <a:prstGeom prst="rect">
            <a:avLst/>
          </a:prstGeom>
          <a:noFill/>
          <a:ln>
            <a:noFill/>
          </a:ln>
        </p:spPr>
      </p:pic>
      <p:pic>
        <p:nvPicPr>
          <p:cNvPr id="2" name="Google Shape;146;p60" descr="360DigiTMG Reviews - 52 Reviews of 360digitmg.com | Sitejabber">
            <a:extLst>
              <a:ext uri="{FF2B5EF4-FFF2-40B4-BE49-F238E27FC236}">
                <a16:creationId xmlns:a16="http://schemas.microsoft.com/office/drawing/2014/main" id="{78167484-9A1E-D6F9-0AB6-EE2FEF2B3ECA}"/>
              </a:ext>
            </a:extLst>
          </p:cNvPr>
          <p:cNvPicPr preferRelativeResize="0"/>
          <p:nvPr/>
        </p:nvPicPr>
        <p:blipFill rotWithShape="1">
          <a:blip r:embed="rId4">
            <a:alphaModFix/>
          </a:blip>
          <a:srcRect/>
          <a:stretch/>
        </p:blipFill>
        <p:spPr>
          <a:xfrm>
            <a:off x="10351409" y="6213051"/>
            <a:ext cx="1840591" cy="644949"/>
          </a:xfrm>
          <a:prstGeom prst="rect">
            <a:avLst/>
          </a:prstGeom>
          <a:noFill/>
          <a:ln>
            <a:noFill/>
          </a:ln>
        </p:spPr>
      </p:pic>
      <p:sp>
        <p:nvSpPr>
          <p:cNvPr id="6" name="Rectangle: Rounded Corners 5">
            <a:extLst>
              <a:ext uri="{FF2B5EF4-FFF2-40B4-BE49-F238E27FC236}">
                <a16:creationId xmlns:a16="http://schemas.microsoft.com/office/drawing/2014/main" id="{7A05F692-A11C-B41C-D5B8-2993F2CB0CAF}"/>
              </a:ext>
            </a:extLst>
          </p:cNvPr>
          <p:cNvSpPr/>
          <p:nvPr/>
        </p:nvSpPr>
        <p:spPr>
          <a:xfrm>
            <a:off x="1030423" y="323833"/>
            <a:ext cx="10241281" cy="686957"/>
          </a:xfrm>
          <a:prstGeom prst="roundRect">
            <a:avLst>
              <a:gd name="adj" fmla="val 0"/>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800" b="1" dirty="0" err="1">
                <a:latin typeface="Century Gothic" panose="020B0502020202020204" pitchFamily="34" charset="0"/>
              </a:rPr>
              <a:t>Garbha</a:t>
            </a:r>
            <a:r>
              <a:rPr lang="en-US" sz="2800" b="1" dirty="0">
                <a:latin typeface="Century Gothic" panose="020B0502020202020204" pitchFamily="34" charset="0"/>
              </a:rPr>
              <a:t> Analytics-Data Driven IVF Outcome Monitoring</a:t>
            </a:r>
            <a:endParaRPr lang="en-GB" sz="2800" b="1" dirty="0">
              <a:latin typeface="Century Gothic" panose="020B0502020202020204" pitchFamily="34" charset="0"/>
            </a:endParaRPr>
          </a:p>
        </p:txBody>
      </p:sp>
      <p:pic>
        <p:nvPicPr>
          <p:cNvPr id="8" name="Picture 7">
            <a:extLst>
              <a:ext uri="{FF2B5EF4-FFF2-40B4-BE49-F238E27FC236}">
                <a16:creationId xmlns:a16="http://schemas.microsoft.com/office/drawing/2014/main" id="{E25B7964-2AFA-46CD-8019-E0081F80DB3A}"/>
              </a:ext>
            </a:extLst>
          </p:cNvPr>
          <p:cNvPicPr>
            <a:picLocks noChangeAspect="1"/>
          </p:cNvPicPr>
          <p:nvPr/>
        </p:nvPicPr>
        <p:blipFill>
          <a:blip r:embed="rId5"/>
          <a:stretch>
            <a:fillRect/>
          </a:stretch>
        </p:blipFill>
        <p:spPr>
          <a:xfrm>
            <a:off x="2667000" y="2837468"/>
            <a:ext cx="6858000" cy="392155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A156720A-B8C3-A0F1-0352-AB5DE1082775}"/>
            </a:ext>
          </a:extLst>
        </p:cNvPr>
        <p:cNvGrpSpPr/>
        <p:nvPr/>
      </p:nvGrpSpPr>
      <p:grpSpPr>
        <a:xfrm>
          <a:off x="0" y="0"/>
          <a:ext cx="0" cy="0"/>
          <a:chOff x="0" y="0"/>
          <a:chExt cx="0" cy="0"/>
        </a:xfrm>
      </p:grpSpPr>
      <p:sp>
        <p:nvSpPr>
          <p:cNvPr id="74" name="Google Shape;74;p1">
            <a:extLst>
              <a:ext uri="{FF2B5EF4-FFF2-40B4-BE49-F238E27FC236}">
                <a16:creationId xmlns:a16="http://schemas.microsoft.com/office/drawing/2014/main" id="{08C4C813-6C26-9AA6-ECF5-0DD8AB45EB82}"/>
              </a:ext>
            </a:extLst>
          </p:cNvPr>
          <p:cNvSpPr txBox="1"/>
          <p:nvPr/>
        </p:nvSpPr>
        <p:spPr>
          <a:xfrm>
            <a:off x="242944" y="860611"/>
            <a:ext cx="3537600" cy="492400"/>
          </a:xfrm>
          <a:prstGeom prst="rect">
            <a:avLst/>
          </a:prstGeom>
          <a:noFill/>
          <a:ln>
            <a:noFill/>
          </a:ln>
        </p:spPr>
        <p:txBody>
          <a:bodyPr spcFirstLastPara="1" wrap="square" lIns="121875" tIns="60925" rIns="121875" bIns="60925" anchor="t" anchorCtr="0">
            <a:sp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Times New Roman"/>
              <a:ea typeface="Times New Roman"/>
              <a:cs typeface="Times New Roman"/>
              <a:sym typeface="Times New Roman"/>
            </a:endParaRPr>
          </a:p>
        </p:txBody>
      </p:sp>
      <p:pic>
        <p:nvPicPr>
          <p:cNvPr id="75" name="Google Shape;75;p1">
            <a:extLst>
              <a:ext uri="{FF2B5EF4-FFF2-40B4-BE49-F238E27FC236}">
                <a16:creationId xmlns:a16="http://schemas.microsoft.com/office/drawing/2014/main" id="{2CCCC8A2-AE11-F490-9627-18A5000DE3B5}"/>
              </a:ext>
            </a:extLst>
          </p:cNvPr>
          <p:cNvPicPr preferRelativeResize="0"/>
          <p:nvPr/>
        </p:nvPicPr>
        <p:blipFill rotWithShape="1">
          <a:blip r:embed="rId3">
            <a:alphaModFix/>
          </a:blip>
          <a:srcRect/>
          <a:stretch/>
        </p:blipFill>
        <p:spPr>
          <a:xfrm>
            <a:off x="14086508" y="11637873"/>
            <a:ext cx="158226" cy="163709"/>
          </a:xfrm>
          <a:prstGeom prst="rect">
            <a:avLst/>
          </a:prstGeom>
          <a:noFill/>
          <a:ln>
            <a:noFill/>
          </a:ln>
        </p:spPr>
      </p:pic>
      <p:sp>
        <p:nvSpPr>
          <p:cNvPr id="5" name="Google Shape;83;gf3a8d4be09_2_180">
            <a:extLst>
              <a:ext uri="{FF2B5EF4-FFF2-40B4-BE49-F238E27FC236}">
                <a16:creationId xmlns:a16="http://schemas.microsoft.com/office/drawing/2014/main" id="{B662B3AA-D682-0565-D1C6-C2390CB39B64}"/>
              </a:ext>
            </a:extLst>
          </p:cNvPr>
          <p:cNvSpPr txBox="1"/>
          <p:nvPr/>
        </p:nvSpPr>
        <p:spPr>
          <a:xfrm>
            <a:off x="1601229" y="1632457"/>
            <a:ext cx="8150316" cy="3287023"/>
          </a:xfrm>
          <a:prstGeom prst="rect">
            <a:avLst/>
          </a:prstGeom>
          <a:noFill/>
          <a:ln>
            <a:noFill/>
          </a:ln>
        </p:spPr>
        <p:txBody>
          <a:bodyPr spcFirstLastPara="1" wrap="square" lIns="91425" tIns="91425" rIns="91425" bIns="91425" anchor="t" anchorCtr="0">
            <a:spAutoFit/>
          </a:bodyPr>
          <a:lstStyle/>
          <a:p>
            <a:pPr marL="457200" marR="0" lvl="0" indent="-431800" algn="l" rtl="0">
              <a:lnSpc>
                <a:spcPct val="90000"/>
              </a:lnSpc>
              <a:spcBef>
                <a:spcPts val="0"/>
              </a:spcBef>
              <a:spcAft>
                <a:spcPts val="0"/>
              </a:spcAft>
              <a:buClr>
                <a:schemeClr val="dk1"/>
              </a:buClr>
              <a:buSzPts val="3200"/>
              <a:buFont typeface="Times New Roman"/>
              <a:buChar char="●"/>
            </a:pPr>
            <a:r>
              <a:rPr lang="en-US" sz="3200" b="0" i="0" u="none" strike="noStrike" cap="none" dirty="0">
                <a:solidFill>
                  <a:schemeClr val="dk1"/>
                </a:solidFill>
                <a:latin typeface="Times New Roman"/>
                <a:ea typeface="Times New Roman"/>
                <a:cs typeface="Times New Roman"/>
                <a:sym typeface="Times New Roman"/>
              </a:rPr>
              <a:t>Business Objective</a:t>
            </a:r>
            <a:endParaRPr sz="3200" b="0" i="0" u="none" strike="noStrike" cap="none" dirty="0">
              <a:solidFill>
                <a:schemeClr val="dk1"/>
              </a:solidFill>
              <a:latin typeface="Times New Roman"/>
              <a:ea typeface="Times New Roman"/>
              <a:cs typeface="Times New Roman"/>
              <a:sym typeface="Times New Roman"/>
            </a:endParaRPr>
          </a:p>
          <a:p>
            <a:pPr marL="457200" marR="0" lvl="0" indent="-431800" algn="l" rtl="0">
              <a:lnSpc>
                <a:spcPct val="90000"/>
              </a:lnSpc>
              <a:spcBef>
                <a:spcPts val="0"/>
              </a:spcBef>
              <a:spcAft>
                <a:spcPts val="0"/>
              </a:spcAft>
              <a:buClr>
                <a:schemeClr val="dk1"/>
              </a:buClr>
              <a:buSzPts val="3200"/>
              <a:buFont typeface="Times New Roman"/>
              <a:buChar char="●"/>
            </a:pPr>
            <a:r>
              <a:rPr lang="en-US" sz="3200" b="0" i="0" u="none" strike="noStrike" cap="none" dirty="0">
                <a:solidFill>
                  <a:schemeClr val="dk1"/>
                </a:solidFill>
                <a:latin typeface="Times New Roman"/>
                <a:ea typeface="Times New Roman"/>
                <a:cs typeface="Times New Roman"/>
                <a:sym typeface="Times New Roman"/>
              </a:rPr>
              <a:t>Business Constraints</a:t>
            </a:r>
          </a:p>
          <a:p>
            <a:pPr marL="457200" marR="0" lvl="0" indent="-431800" algn="l" rtl="0">
              <a:lnSpc>
                <a:spcPct val="90000"/>
              </a:lnSpc>
              <a:spcBef>
                <a:spcPts val="0"/>
              </a:spcBef>
              <a:spcAft>
                <a:spcPts val="0"/>
              </a:spcAft>
              <a:buClr>
                <a:schemeClr val="dk1"/>
              </a:buClr>
              <a:buSzPts val="3200"/>
              <a:buFont typeface="Times New Roman"/>
              <a:buChar char="●"/>
            </a:pPr>
            <a:r>
              <a:rPr lang="en-US" sz="3200" dirty="0">
                <a:solidFill>
                  <a:schemeClr val="bg1"/>
                </a:solidFill>
                <a:latin typeface="Times New Roman"/>
                <a:ea typeface="Times New Roman"/>
                <a:cs typeface="Times New Roman"/>
                <a:sym typeface="Times New Roman"/>
              </a:rPr>
              <a:t>Business</a:t>
            </a:r>
            <a:r>
              <a:rPr lang="en-US" sz="2800" dirty="0">
                <a:solidFill>
                  <a:schemeClr val="bg1"/>
                </a:solidFill>
                <a:latin typeface="Times New Roman"/>
                <a:ea typeface="Times New Roman"/>
                <a:cs typeface="Times New Roman"/>
                <a:sym typeface="Times New Roman"/>
              </a:rPr>
              <a:t> </a:t>
            </a:r>
            <a:r>
              <a:rPr lang="en-US" sz="3200" dirty="0">
                <a:solidFill>
                  <a:schemeClr val="bg1"/>
                </a:solidFill>
                <a:latin typeface="Times New Roman"/>
                <a:ea typeface="Times New Roman"/>
                <a:cs typeface="Times New Roman"/>
                <a:sym typeface="Times New Roman"/>
              </a:rPr>
              <a:t>Problem</a:t>
            </a:r>
            <a:endParaRPr sz="3200" i="0" u="none" strike="noStrike" cap="none" dirty="0">
              <a:solidFill>
                <a:schemeClr val="bg1"/>
              </a:solidFill>
              <a:latin typeface="Times New Roman"/>
              <a:ea typeface="Times New Roman"/>
              <a:cs typeface="Times New Roman"/>
              <a:sym typeface="Times New Roman"/>
            </a:endParaRPr>
          </a:p>
          <a:p>
            <a:pPr marL="457200" marR="0" lvl="0" indent="-431800" algn="l" rtl="0">
              <a:lnSpc>
                <a:spcPct val="90000"/>
              </a:lnSpc>
              <a:spcBef>
                <a:spcPts val="0"/>
              </a:spcBef>
              <a:spcAft>
                <a:spcPts val="0"/>
              </a:spcAft>
              <a:buClr>
                <a:schemeClr val="dk1"/>
              </a:buClr>
              <a:buSzPts val="3200"/>
              <a:buFont typeface="Times New Roman"/>
              <a:buChar char="●"/>
            </a:pPr>
            <a:r>
              <a:rPr lang="en-US" sz="3200" b="0" i="0" u="none" strike="noStrike" cap="none" dirty="0">
                <a:solidFill>
                  <a:schemeClr val="dk1"/>
                </a:solidFill>
                <a:latin typeface="Times New Roman"/>
                <a:ea typeface="Times New Roman"/>
                <a:cs typeface="Times New Roman"/>
                <a:sym typeface="Times New Roman"/>
              </a:rPr>
              <a:t>Project Architecture - Data F</a:t>
            </a:r>
            <a:r>
              <a:rPr lang="en-US" sz="3200" dirty="0">
                <a:solidFill>
                  <a:schemeClr val="dk1"/>
                </a:solidFill>
                <a:latin typeface="Times New Roman"/>
                <a:ea typeface="Times New Roman"/>
                <a:cs typeface="Times New Roman"/>
                <a:sym typeface="Times New Roman"/>
              </a:rPr>
              <a:t>low Diagram</a:t>
            </a:r>
            <a:endParaRPr dirty="0"/>
          </a:p>
          <a:p>
            <a:pPr marL="457200" marR="0" lvl="0" indent="-431800" algn="l" rtl="0">
              <a:lnSpc>
                <a:spcPct val="90000"/>
              </a:lnSpc>
              <a:spcBef>
                <a:spcPts val="0"/>
              </a:spcBef>
              <a:spcAft>
                <a:spcPts val="0"/>
              </a:spcAft>
              <a:buClr>
                <a:schemeClr val="dk1"/>
              </a:buClr>
              <a:buSzPts val="3200"/>
              <a:buFont typeface="Times New Roman"/>
              <a:buChar char="●"/>
            </a:pPr>
            <a:r>
              <a:rPr lang="en-US" sz="3200" b="0" i="0" u="none" strike="noStrike" cap="none" dirty="0">
                <a:solidFill>
                  <a:schemeClr val="dk1"/>
                </a:solidFill>
                <a:latin typeface="Times New Roman"/>
                <a:ea typeface="Times New Roman"/>
                <a:cs typeface="Times New Roman"/>
                <a:sym typeface="Times New Roman"/>
              </a:rPr>
              <a:t>Data Collection</a:t>
            </a:r>
            <a:endParaRPr sz="3200" b="0" i="0" u="none" strike="noStrike" cap="none" dirty="0">
              <a:solidFill>
                <a:schemeClr val="dk1"/>
              </a:solidFill>
              <a:latin typeface="Times New Roman"/>
              <a:ea typeface="Times New Roman"/>
              <a:cs typeface="Times New Roman"/>
              <a:sym typeface="Times New Roman"/>
            </a:endParaRPr>
          </a:p>
          <a:p>
            <a:pPr marL="457200" marR="0" lvl="0" indent="-431800" algn="l" rtl="0">
              <a:lnSpc>
                <a:spcPct val="90000"/>
              </a:lnSpc>
              <a:spcBef>
                <a:spcPts val="0"/>
              </a:spcBef>
              <a:spcAft>
                <a:spcPts val="0"/>
              </a:spcAft>
              <a:buClr>
                <a:schemeClr val="dk1"/>
              </a:buClr>
              <a:buSzPts val="3200"/>
              <a:buFont typeface="Times New Roman"/>
              <a:buChar char="●"/>
            </a:pPr>
            <a:r>
              <a:rPr lang="en-US" sz="3200" b="0" i="0" u="none" strike="noStrike" cap="none" dirty="0">
                <a:solidFill>
                  <a:schemeClr val="dk1"/>
                </a:solidFill>
                <a:latin typeface="Times New Roman"/>
                <a:ea typeface="Times New Roman"/>
                <a:cs typeface="Times New Roman"/>
                <a:sym typeface="Times New Roman"/>
              </a:rPr>
              <a:t>Exploratory Data Analysis</a:t>
            </a:r>
            <a:endParaRPr sz="3200" b="0" i="0" u="none" strike="noStrike" cap="none" dirty="0">
              <a:solidFill>
                <a:schemeClr val="dk1"/>
              </a:solidFill>
              <a:latin typeface="Times New Roman"/>
              <a:ea typeface="Times New Roman"/>
              <a:cs typeface="Times New Roman"/>
              <a:sym typeface="Times New Roman"/>
            </a:endParaRPr>
          </a:p>
          <a:p>
            <a:pPr marL="457200" marR="0" lvl="0" indent="-431800" algn="l" rtl="0">
              <a:lnSpc>
                <a:spcPct val="90000"/>
              </a:lnSpc>
              <a:spcBef>
                <a:spcPts val="0"/>
              </a:spcBef>
              <a:spcAft>
                <a:spcPts val="0"/>
              </a:spcAft>
              <a:buClr>
                <a:schemeClr val="dk1"/>
              </a:buClr>
              <a:buSzPts val="3200"/>
              <a:buFont typeface="Times New Roman"/>
              <a:buChar char="●"/>
            </a:pPr>
            <a:r>
              <a:rPr lang="en-US" sz="3200" b="0" i="0" u="none" strike="noStrike" cap="none" dirty="0">
                <a:solidFill>
                  <a:schemeClr val="dk1"/>
                </a:solidFill>
                <a:latin typeface="Times New Roman"/>
                <a:ea typeface="Times New Roman"/>
                <a:cs typeface="Times New Roman"/>
                <a:sym typeface="Times New Roman"/>
              </a:rPr>
              <a:t>Data Visualization</a:t>
            </a:r>
            <a:endParaRPr sz="3200" b="0" i="0" u="none" strike="noStrike" cap="none" dirty="0">
              <a:solidFill>
                <a:schemeClr val="dk1"/>
              </a:solidFill>
              <a:latin typeface="Times New Roman"/>
              <a:ea typeface="Times New Roman"/>
              <a:cs typeface="Times New Roman"/>
              <a:sym typeface="Times New Roman"/>
            </a:endParaRPr>
          </a:p>
        </p:txBody>
      </p:sp>
      <p:pic>
        <p:nvPicPr>
          <p:cNvPr id="6" name="Google Shape;146;p60" descr="360DigiTMG Reviews - 52 Reviews of 360digitmg.com | Sitejabber">
            <a:extLst>
              <a:ext uri="{FF2B5EF4-FFF2-40B4-BE49-F238E27FC236}">
                <a16:creationId xmlns:a16="http://schemas.microsoft.com/office/drawing/2014/main" id="{83277A03-94D4-F289-1161-9077985EE917}"/>
              </a:ext>
            </a:extLst>
          </p:cNvPr>
          <p:cNvPicPr preferRelativeResize="0"/>
          <p:nvPr/>
        </p:nvPicPr>
        <p:blipFill rotWithShape="1">
          <a:blip r:embed="rId4">
            <a:alphaModFix/>
          </a:blip>
          <a:srcRect/>
          <a:stretch/>
        </p:blipFill>
        <p:spPr>
          <a:xfrm>
            <a:off x="10351409" y="6213051"/>
            <a:ext cx="1840591" cy="644949"/>
          </a:xfrm>
          <a:prstGeom prst="rect">
            <a:avLst/>
          </a:prstGeom>
          <a:noFill/>
          <a:ln>
            <a:noFill/>
          </a:ln>
        </p:spPr>
      </p:pic>
      <p:sp>
        <p:nvSpPr>
          <p:cNvPr id="9" name="Rectangle: Rounded Corners 8">
            <a:extLst>
              <a:ext uri="{FF2B5EF4-FFF2-40B4-BE49-F238E27FC236}">
                <a16:creationId xmlns:a16="http://schemas.microsoft.com/office/drawing/2014/main" id="{701F8AB6-0BAD-3043-2A9A-28569C820E26}"/>
              </a:ext>
            </a:extLst>
          </p:cNvPr>
          <p:cNvSpPr/>
          <p:nvPr/>
        </p:nvSpPr>
        <p:spPr>
          <a:xfrm>
            <a:off x="1030423" y="323833"/>
            <a:ext cx="10241281" cy="686957"/>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3200" b="1" dirty="0">
                <a:latin typeface="Century Gothic" panose="020B0502020202020204" pitchFamily="34" charset="0"/>
                <a:ea typeface="Times New Roman"/>
                <a:cs typeface="Times New Roman"/>
                <a:sym typeface="Times New Roman"/>
              </a:rPr>
              <a:t>CONTENTS</a:t>
            </a:r>
            <a:endParaRPr lang="en-GB" sz="3200" b="1" dirty="0">
              <a:latin typeface="Century Gothic" panose="020B0502020202020204" pitchFamily="34" charset="0"/>
            </a:endParaRPr>
          </a:p>
        </p:txBody>
      </p:sp>
    </p:spTree>
    <p:extLst>
      <p:ext uri="{BB962C8B-B14F-4D97-AF65-F5344CB8AC3E}">
        <p14:creationId xmlns:p14="http://schemas.microsoft.com/office/powerpoint/2010/main" val="3993435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73;p1">
            <a:extLst>
              <a:ext uri="{FF2B5EF4-FFF2-40B4-BE49-F238E27FC236}">
                <a16:creationId xmlns:a16="http://schemas.microsoft.com/office/drawing/2014/main" id="{BF6B57B3-7C6C-29BE-D9AA-436B81BE7B0F}"/>
              </a:ext>
            </a:extLst>
          </p:cNvPr>
          <p:cNvSpPr txBox="1">
            <a:spLocks/>
          </p:cNvSpPr>
          <p:nvPr/>
        </p:nvSpPr>
        <p:spPr>
          <a:xfrm>
            <a:off x="3762154" y="1351109"/>
            <a:ext cx="7072422" cy="4791555"/>
          </a:xfrm>
          <a:prstGeom prst="rect">
            <a:avLst/>
          </a:prstGeom>
          <a:noFill/>
          <a:ln>
            <a:noFill/>
          </a:ln>
        </p:spPr>
        <p:txBody>
          <a:bodyPr spcFirstLastPara="1" wrap="square" lIns="91400" tIns="45675" rIns="91400" bIns="4567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nSpc>
                <a:spcPct val="90000"/>
              </a:lnSpc>
              <a:spcBef>
                <a:spcPts val="1000"/>
              </a:spcBef>
              <a:buClr>
                <a:schemeClr val="dk1"/>
              </a:buClr>
              <a:buSzPts val="1800"/>
            </a:pPr>
            <a:r>
              <a:rPr lang="en-US" sz="3200" dirty="0">
                <a:latin typeface="Calibri" panose="020F0502020204030204" pitchFamily="34" charset="0"/>
                <a:ea typeface="Calibri" panose="020F0502020204030204" pitchFamily="34" charset="0"/>
                <a:cs typeface="Calibri" panose="020F0502020204030204" pitchFamily="34" charset="0"/>
              </a:rPr>
              <a:t>To maximize the success rate of IVF / ART procedures by identifying key clinical and biological factors influencing treatment outcomes and enabling data-driven clinical decision-making.</a:t>
            </a:r>
            <a:endParaRPr lang="en-US" sz="3000" dirty="0">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BA9D2852-A2E3-92EF-AE46-59B082A0E681}"/>
              </a:ext>
            </a:extLst>
          </p:cNvPr>
          <p:cNvPicPr>
            <a:picLocks noChangeAspect="1"/>
          </p:cNvPicPr>
          <p:nvPr/>
        </p:nvPicPr>
        <p:blipFill>
          <a:blip r:embed="rId2"/>
          <a:stretch>
            <a:fillRect/>
          </a:stretch>
        </p:blipFill>
        <p:spPr>
          <a:xfrm>
            <a:off x="432271" y="1828308"/>
            <a:ext cx="3471398" cy="2689262"/>
          </a:xfrm>
          <a:prstGeom prst="rect">
            <a:avLst/>
          </a:prstGeom>
        </p:spPr>
      </p:pic>
      <p:pic>
        <p:nvPicPr>
          <p:cNvPr id="6" name="Google Shape;146;p60" descr="360DigiTMG Reviews - 52 Reviews of 360digitmg.com | Sitejabber">
            <a:extLst>
              <a:ext uri="{FF2B5EF4-FFF2-40B4-BE49-F238E27FC236}">
                <a16:creationId xmlns:a16="http://schemas.microsoft.com/office/drawing/2014/main" id="{1B25F0B3-8EC8-8162-9F4A-370502354698}"/>
              </a:ext>
            </a:extLst>
          </p:cNvPr>
          <p:cNvPicPr preferRelativeResize="0"/>
          <p:nvPr/>
        </p:nvPicPr>
        <p:blipFill rotWithShape="1">
          <a:blip r:embed="rId3">
            <a:alphaModFix/>
          </a:blip>
          <a:srcRect/>
          <a:stretch/>
        </p:blipFill>
        <p:spPr>
          <a:xfrm>
            <a:off x="10351409" y="6213051"/>
            <a:ext cx="1840591" cy="644949"/>
          </a:xfrm>
          <a:prstGeom prst="rect">
            <a:avLst/>
          </a:prstGeom>
          <a:noFill/>
          <a:ln>
            <a:noFill/>
          </a:ln>
        </p:spPr>
      </p:pic>
      <p:sp>
        <p:nvSpPr>
          <p:cNvPr id="9" name="Rectangle: Rounded Corners 8">
            <a:extLst>
              <a:ext uri="{FF2B5EF4-FFF2-40B4-BE49-F238E27FC236}">
                <a16:creationId xmlns:a16="http://schemas.microsoft.com/office/drawing/2014/main" id="{12B0642F-242C-791A-7529-65FA7507DD34}"/>
              </a:ext>
            </a:extLst>
          </p:cNvPr>
          <p:cNvSpPr/>
          <p:nvPr/>
        </p:nvSpPr>
        <p:spPr>
          <a:xfrm>
            <a:off x="1030423" y="323833"/>
            <a:ext cx="10241281" cy="686957"/>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3200" b="1" dirty="0">
                <a:latin typeface="Century Gothic" panose="020B0502020202020204" pitchFamily="34" charset="0"/>
                <a:ea typeface="Times New Roman"/>
                <a:cs typeface="Times New Roman"/>
                <a:sym typeface="Times New Roman"/>
              </a:rPr>
              <a:t>BUSINESS OBJECTIVE</a:t>
            </a:r>
            <a:endParaRPr lang="en-GB" sz="3200" b="1" dirty="0">
              <a:latin typeface="Century Gothic" panose="020B0502020202020204" pitchFamily="34" charset="0"/>
            </a:endParaRPr>
          </a:p>
        </p:txBody>
      </p:sp>
    </p:spTree>
    <p:extLst>
      <p:ext uri="{BB962C8B-B14F-4D97-AF65-F5344CB8AC3E}">
        <p14:creationId xmlns:p14="http://schemas.microsoft.com/office/powerpoint/2010/main" val="20336285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73;p1">
            <a:extLst>
              <a:ext uri="{FF2B5EF4-FFF2-40B4-BE49-F238E27FC236}">
                <a16:creationId xmlns:a16="http://schemas.microsoft.com/office/drawing/2014/main" id="{13358497-61C5-3FF6-2568-E6BBA29ED69A}"/>
              </a:ext>
            </a:extLst>
          </p:cNvPr>
          <p:cNvSpPr txBox="1">
            <a:spLocks/>
          </p:cNvSpPr>
          <p:nvPr/>
        </p:nvSpPr>
        <p:spPr>
          <a:xfrm>
            <a:off x="859466" y="1825626"/>
            <a:ext cx="10515600" cy="3033453"/>
          </a:xfrm>
          <a:prstGeom prst="rect">
            <a:avLst/>
          </a:prstGeom>
          <a:noFill/>
          <a:ln>
            <a:noFill/>
          </a:ln>
        </p:spPr>
        <p:txBody>
          <a:bodyPr spcFirstLastPara="1" wrap="square" lIns="91400" tIns="45675" rIns="91400" bIns="4567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nSpc>
                <a:spcPct val="90000"/>
              </a:lnSpc>
              <a:spcBef>
                <a:spcPts val="1000"/>
              </a:spcBef>
              <a:buClr>
                <a:schemeClr val="dk1"/>
              </a:buClr>
              <a:buSzPts val="1800"/>
            </a:pPr>
            <a:r>
              <a:rPr lang="en-US" sz="2800" dirty="0">
                <a:latin typeface="Calibri" panose="020F0502020204030204" pitchFamily="34" charset="0"/>
                <a:ea typeface="Calibri" panose="020F0502020204030204" pitchFamily="34" charset="0"/>
                <a:cs typeface="Calibri" panose="020F0502020204030204" pitchFamily="34" charset="0"/>
              </a:rPr>
              <a:t>To improve IVF success outcomes while minimizing overall treatment and operational costs, without compromising clinical quality and patient care.</a:t>
            </a:r>
          </a:p>
        </p:txBody>
      </p:sp>
      <p:pic>
        <p:nvPicPr>
          <p:cNvPr id="5" name="Google Shape;146;p60" descr="360DigiTMG Reviews - 52 Reviews of 360digitmg.com | Sitejabber">
            <a:extLst>
              <a:ext uri="{FF2B5EF4-FFF2-40B4-BE49-F238E27FC236}">
                <a16:creationId xmlns:a16="http://schemas.microsoft.com/office/drawing/2014/main" id="{16D2BA1F-B55F-2F53-9CD7-09ED297F737F}"/>
              </a:ext>
            </a:extLst>
          </p:cNvPr>
          <p:cNvPicPr preferRelativeResize="0"/>
          <p:nvPr/>
        </p:nvPicPr>
        <p:blipFill rotWithShape="1">
          <a:blip r:embed="rId2">
            <a:alphaModFix/>
          </a:blip>
          <a:srcRect/>
          <a:stretch/>
        </p:blipFill>
        <p:spPr>
          <a:xfrm>
            <a:off x="10351409" y="6213051"/>
            <a:ext cx="1840591" cy="644949"/>
          </a:xfrm>
          <a:prstGeom prst="rect">
            <a:avLst/>
          </a:prstGeom>
          <a:noFill/>
          <a:ln>
            <a:noFill/>
          </a:ln>
        </p:spPr>
      </p:pic>
      <p:sp>
        <p:nvSpPr>
          <p:cNvPr id="8" name="Rectangle: Rounded Corners 7">
            <a:extLst>
              <a:ext uri="{FF2B5EF4-FFF2-40B4-BE49-F238E27FC236}">
                <a16:creationId xmlns:a16="http://schemas.microsoft.com/office/drawing/2014/main" id="{C6A1E9B7-66EA-A544-C557-20C00EC6351C}"/>
              </a:ext>
            </a:extLst>
          </p:cNvPr>
          <p:cNvSpPr/>
          <p:nvPr/>
        </p:nvSpPr>
        <p:spPr>
          <a:xfrm>
            <a:off x="1030423" y="323833"/>
            <a:ext cx="10241281" cy="686957"/>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3200" b="1" dirty="0">
                <a:latin typeface="Century Gothic" panose="020B0502020202020204" pitchFamily="34" charset="0"/>
                <a:ea typeface="Times New Roman"/>
                <a:cs typeface="Times New Roman"/>
                <a:sym typeface="Times New Roman"/>
              </a:rPr>
              <a:t>BUSINESS CONSTRAINT</a:t>
            </a:r>
            <a:endParaRPr lang="en-GB" sz="3200" b="1" dirty="0">
              <a:latin typeface="Century Gothic" panose="020B0502020202020204" pitchFamily="34" charset="0"/>
            </a:endParaRPr>
          </a:p>
        </p:txBody>
      </p:sp>
    </p:spTree>
    <p:extLst>
      <p:ext uri="{BB962C8B-B14F-4D97-AF65-F5344CB8AC3E}">
        <p14:creationId xmlns:p14="http://schemas.microsoft.com/office/powerpoint/2010/main" val="33127613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4" name="Google Shape;73;p1">
            <a:extLst>
              <a:ext uri="{FF2B5EF4-FFF2-40B4-BE49-F238E27FC236}">
                <a16:creationId xmlns:a16="http://schemas.microsoft.com/office/drawing/2014/main" id="{FC92FDC9-C8C8-FFF3-428C-1E2FE1DB3599}"/>
              </a:ext>
            </a:extLst>
          </p:cNvPr>
          <p:cNvSpPr txBox="1">
            <a:spLocks/>
          </p:cNvSpPr>
          <p:nvPr/>
        </p:nvSpPr>
        <p:spPr>
          <a:xfrm>
            <a:off x="838200" y="1825626"/>
            <a:ext cx="10515600" cy="3480022"/>
          </a:xfrm>
          <a:prstGeom prst="rect">
            <a:avLst/>
          </a:prstGeom>
          <a:noFill/>
          <a:ln>
            <a:noFill/>
          </a:ln>
        </p:spPr>
        <p:txBody>
          <a:bodyPr spcFirstLastPara="1" wrap="square" lIns="91400" tIns="45675" rIns="91400" bIns="45675" anchor="t" anchorCtr="0">
            <a:normAutofit fontScale="85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just">
              <a:lnSpc>
                <a:spcPct val="90000"/>
              </a:lnSpc>
              <a:spcBef>
                <a:spcPts val="1000"/>
              </a:spcBef>
              <a:buClr>
                <a:schemeClr val="dk1"/>
              </a:buClr>
              <a:buSzPts val="1800"/>
            </a:pPr>
            <a:r>
              <a:rPr lang="en-US" sz="3200" dirty="0">
                <a:latin typeface="Calibri" panose="020F0502020204030204" pitchFamily="34" charset="0"/>
                <a:ea typeface="Calibri" panose="020F0502020204030204" pitchFamily="34" charset="0"/>
                <a:cs typeface="Calibri" panose="020F0502020204030204" pitchFamily="34" charset="0"/>
              </a:rPr>
              <a:t>Rising stress and lifestyle changes have increased IVF demand by 20–30% globally, but overall IVF success rates remain low at 30–35% per cycle. A major contributor is the 25–40% inter-observer variability in embryo grading between embryologists, which leads to inconsistent embryo selection and up to 15–20% loss in implantation potential. Additionally, patients often receive definitive outcome clarity only after 3–4 months, creating delays in clinical decisions and lowering patient satisfaction. These inefficiencies collectively lead to an estimated 10–15% increase in operational cost per cycle and reduce clinic-wide performance visibility across stakeholders.</a:t>
            </a:r>
          </a:p>
        </p:txBody>
      </p:sp>
      <p:pic>
        <p:nvPicPr>
          <p:cNvPr id="2" name="Google Shape;146;p60" descr="360DigiTMG Reviews - 52 Reviews of 360digitmg.com | Sitejabber">
            <a:extLst>
              <a:ext uri="{FF2B5EF4-FFF2-40B4-BE49-F238E27FC236}">
                <a16:creationId xmlns:a16="http://schemas.microsoft.com/office/drawing/2014/main" id="{DE9894FC-B4DF-3CA4-9A34-08A137E6B41F}"/>
              </a:ext>
            </a:extLst>
          </p:cNvPr>
          <p:cNvPicPr preferRelativeResize="0"/>
          <p:nvPr/>
        </p:nvPicPr>
        <p:blipFill rotWithShape="1">
          <a:blip r:embed="rId3">
            <a:alphaModFix/>
          </a:blip>
          <a:srcRect/>
          <a:stretch/>
        </p:blipFill>
        <p:spPr>
          <a:xfrm>
            <a:off x="10351409" y="6213051"/>
            <a:ext cx="1840591" cy="644949"/>
          </a:xfrm>
          <a:prstGeom prst="rect">
            <a:avLst/>
          </a:prstGeom>
          <a:noFill/>
          <a:ln>
            <a:noFill/>
          </a:ln>
        </p:spPr>
      </p:pic>
      <p:sp>
        <p:nvSpPr>
          <p:cNvPr id="6" name="Rectangle: Rounded Corners 5">
            <a:extLst>
              <a:ext uri="{FF2B5EF4-FFF2-40B4-BE49-F238E27FC236}">
                <a16:creationId xmlns:a16="http://schemas.microsoft.com/office/drawing/2014/main" id="{AB2C61CA-ABB3-0033-F099-E988A3306A9D}"/>
              </a:ext>
            </a:extLst>
          </p:cNvPr>
          <p:cNvSpPr/>
          <p:nvPr/>
        </p:nvSpPr>
        <p:spPr>
          <a:xfrm>
            <a:off x="1030423" y="323833"/>
            <a:ext cx="10241281" cy="686957"/>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3200" b="1" dirty="0">
                <a:latin typeface="Century Gothic" panose="020B0502020202020204" pitchFamily="34" charset="0"/>
                <a:ea typeface="Times New Roman"/>
                <a:cs typeface="Times New Roman"/>
                <a:sym typeface="Times New Roman"/>
              </a:rPr>
              <a:t>BUSINESS PROBLEM</a:t>
            </a:r>
            <a:endParaRPr lang="en-GB" sz="3200" b="1" dirty="0">
              <a:latin typeface="Century Gothic" panose="020B0502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53C8DF"/>
        </a:solidFill>
        <a:effectLst/>
      </p:bgPr>
    </p:bg>
    <p:spTree>
      <p:nvGrpSpPr>
        <p:cNvPr id="1" name=""/>
        <p:cNvGrpSpPr/>
        <p:nvPr/>
      </p:nvGrpSpPr>
      <p:grpSpPr>
        <a:xfrm>
          <a:off x="0" y="0"/>
          <a:ext cx="0" cy="0"/>
          <a:chOff x="0" y="0"/>
          <a:chExt cx="0" cy="0"/>
        </a:xfrm>
      </p:grpSpPr>
      <p:pic>
        <p:nvPicPr>
          <p:cNvPr id="55" name="Google Shape;146;p60" descr="360DigiTMG Reviews - 52 Reviews of 360digitmg.com | Sitejabber">
            <a:extLst>
              <a:ext uri="{FF2B5EF4-FFF2-40B4-BE49-F238E27FC236}">
                <a16:creationId xmlns:a16="http://schemas.microsoft.com/office/drawing/2014/main" id="{C756F07E-8F2B-AD4D-B303-9BB654E412C4}"/>
              </a:ext>
            </a:extLst>
          </p:cNvPr>
          <p:cNvPicPr preferRelativeResize="0"/>
          <p:nvPr/>
        </p:nvPicPr>
        <p:blipFill rotWithShape="1">
          <a:blip r:embed="rId2">
            <a:alphaModFix/>
          </a:blip>
          <a:srcRect/>
          <a:stretch/>
        </p:blipFill>
        <p:spPr>
          <a:xfrm>
            <a:off x="10351409" y="6213051"/>
            <a:ext cx="1840591" cy="644949"/>
          </a:xfrm>
          <a:prstGeom prst="rect">
            <a:avLst/>
          </a:prstGeom>
          <a:noFill/>
          <a:ln>
            <a:noFill/>
          </a:ln>
        </p:spPr>
      </p:pic>
      <p:sp>
        <p:nvSpPr>
          <p:cNvPr id="56" name="Rectangle: Rounded Corners 55">
            <a:extLst>
              <a:ext uri="{FF2B5EF4-FFF2-40B4-BE49-F238E27FC236}">
                <a16:creationId xmlns:a16="http://schemas.microsoft.com/office/drawing/2014/main" id="{11C19512-7AAB-D93C-6AFB-043C5EA7E375}"/>
              </a:ext>
            </a:extLst>
          </p:cNvPr>
          <p:cNvSpPr/>
          <p:nvPr/>
        </p:nvSpPr>
        <p:spPr>
          <a:xfrm>
            <a:off x="1298045" y="215302"/>
            <a:ext cx="10241281" cy="686957"/>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3200" b="1" i="0" u="none" strike="noStrike" cap="none" dirty="0">
                <a:solidFill>
                  <a:schemeClr val="tx1"/>
                </a:solidFill>
                <a:latin typeface="Century Gothic" panose="020B0502020202020204" pitchFamily="34" charset="0"/>
                <a:ea typeface="Times New Roman"/>
                <a:cs typeface="Times New Roman"/>
                <a:sym typeface="Times New Roman"/>
              </a:rPr>
              <a:t>PROJECT ARCHITECTURE – Data Flow Diagram</a:t>
            </a:r>
            <a:endParaRPr lang="en-GB" sz="3200" b="1" dirty="0">
              <a:solidFill>
                <a:schemeClr val="tx1"/>
              </a:solidFill>
              <a:latin typeface="Century Gothic" panose="020B0502020202020204" pitchFamily="34" charset="0"/>
            </a:endParaRPr>
          </a:p>
        </p:txBody>
      </p:sp>
      <p:pic>
        <p:nvPicPr>
          <p:cNvPr id="54" name="Picture 53">
            <a:extLst>
              <a:ext uri="{FF2B5EF4-FFF2-40B4-BE49-F238E27FC236}">
                <a16:creationId xmlns:a16="http://schemas.microsoft.com/office/drawing/2014/main" id="{60C59C35-0D0B-48DD-A0DA-0862C564BFB9}"/>
              </a:ext>
            </a:extLst>
          </p:cNvPr>
          <p:cNvPicPr>
            <a:picLocks noChangeAspect="1"/>
          </p:cNvPicPr>
          <p:nvPr/>
        </p:nvPicPr>
        <p:blipFill rotWithShape="1">
          <a:blip r:embed="rId3"/>
          <a:srcRect t="281" b="-281"/>
          <a:stretch/>
        </p:blipFill>
        <p:spPr>
          <a:xfrm>
            <a:off x="329135" y="1180215"/>
            <a:ext cx="11533730" cy="475488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40873881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5">
          <a:extLst>
            <a:ext uri="{FF2B5EF4-FFF2-40B4-BE49-F238E27FC236}">
              <a16:creationId xmlns:a16="http://schemas.microsoft.com/office/drawing/2014/main" id="{A37FACD1-20FC-4EE5-95FB-B6937A1E6718}"/>
            </a:ext>
          </a:extLst>
        </p:cNvPr>
        <p:cNvGrpSpPr/>
        <p:nvPr/>
      </p:nvGrpSpPr>
      <p:grpSpPr>
        <a:xfrm>
          <a:off x="0" y="0"/>
          <a:ext cx="0" cy="0"/>
          <a:chOff x="0" y="0"/>
          <a:chExt cx="0" cy="0"/>
        </a:xfrm>
      </p:grpSpPr>
      <p:pic>
        <p:nvPicPr>
          <p:cNvPr id="3" name="Google Shape;146;p60" descr="360DigiTMG Reviews - 52 Reviews of 360digitmg.com | Sitejabber">
            <a:extLst>
              <a:ext uri="{FF2B5EF4-FFF2-40B4-BE49-F238E27FC236}">
                <a16:creationId xmlns:a16="http://schemas.microsoft.com/office/drawing/2014/main" id="{8606E9C9-CF48-D7EA-59EE-3DA32F3AFE83}"/>
              </a:ext>
            </a:extLst>
          </p:cNvPr>
          <p:cNvPicPr preferRelativeResize="0"/>
          <p:nvPr/>
        </p:nvPicPr>
        <p:blipFill rotWithShape="1">
          <a:blip r:embed="rId3">
            <a:alphaModFix/>
          </a:blip>
          <a:srcRect/>
          <a:stretch/>
        </p:blipFill>
        <p:spPr>
          <a:xfrm>
            <a:off x="10351409" y="6213051"/>
            <a:ext cx="1840591" cy="644949"/>
          </a:xfrm>
          <a:prstGeom prst="rect">
            <a:avLst/>
          </a:prstGeom>
          <a:noFill/>
          <a:ln>
            <a:noFill/>
          </a:ln>
        </p:spPr>
      </p:pic>
      <p:sp>
        <p:nvSpPr>
          <p:cNvPr id="4" name="Google Shape;73;p1">
            <a:extLst>
              <a:ext uri="{FF2B5EF4-FFF2-40B4-BE49-F238E27FC236}">
                <a16:creationId xmlns:a16="http://schemas.microsoft.com/office/drawing/2014/main" id="{B0CE2524-2CB9-5CC4-9AA7-41C27B4B3DA2}"/>
              </a:ext>
            </a:extLst>
          </p:cNvPr>
          <p:cNvSpPr txBox="1">
            <a:spLocks/>
          </p:cNvSpPr>
          <p:nvPr/>
        </p:nvSpPr>
        <p:spPr>
          <a:xfrm>
            <a:off x="447833" y="1611540"/>
            <a:ext cx="10515600" cy="3480022"/>
          </a:xfrm>
          <a:prstGeom prst="rect">
            <a:avLst/>
          </a:prstGeom>
          <a:noFill/>
          <a:ln>
            <a:noFill/>
          </a:ln>
        </p:spPr>
        <p:txBody>
          <a:bodyPr spcFirstLastPara="1" wrap="square" lIns="91400" tIns="45675" rIns="91400" bIns="45675" anchor="t" anchorCtr="0">
            <a:normAutofit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just">
              <a:lnSpc>
                <a:spcPct val="90000"/>
              </a:lnSpc>
              <a:spcBef>
                <a:spcPts val="1000"/>
              </a:spcBef>
              <a:buClr>
                <a:schemeClr val="dk1"/>
              </a:buClr>
              <a:buSzPts val="1800"/>
            </a:pPr>
            <a:r>
              <a:rPr lang="en-US" sz="2800" dirty="0">
                <a:latin typeface="Calibri" panose="020F0502020204030204" pitchFamily="34" charset="0"/>
                <a:ea typeface="Calibri" panose="020F0502020204030204" pitchFamily="34" charset="0"/>
                <a:cs typeface="Calibri" panose="020F0502020204030204" pitchFamily="34" charset="0"/>
              </a:rPr>
              <a:t>This project focuses on analyzing historical IVF clinical data to monitor, evaluate, and optimize treatment outcomes. The analysis includes patient demographics, age, serum AMH levels, treatment protocols, and clinical outcomes. Using data analytics and visualization techniques, the project aims to identify key success indicators, track performance trends, and provide actionable insights through an interactive dashboard to support clinicians and management in improving IVF success rates and operational efficiency.</a:t>
            </a:r>
          </a:p>
        </p:txBody>
      </p:sp>
      <p:sp>
        <p:nvSpPr>
          <p:cNvPr id="5" name="Rectangle: Rounded Corners 4">
            <a:extLst>
              <a:ext uri="{FF2B5EF4-FFF2-40B4-BE49-F238E27FC236}">
                <a16:creationId xmlns:a16="http://schemas.microsoft.com/office/drawing/2014/main" id="{3228695E-4489-E36F-1E76-7FE0744FE0E8}"/>
              </a:ext>
            </a:extLst>
          </p:cNvPr>
          <p:cNvSpPr/>
          <p:nvPr/>
        </p:nvSpPr>
        <p:spPr>
          <a:xfrm>
            <a:off x="1030423" y="323833"/>
            <a:ext cx="10241281" cy="686957"/>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3200" b="1" dirty="0">
                <a:latin typeface="Century Gothic" panose="020B0502020202020204" pitchFamily="34" charset="0"/>
                <a:ea typeface="Times New Roman"/>
                <a:cs typeface="Times New Roman"/>
                <a:sym typeface="Times New Roman"/>
              </a:rPr>
              <a:t>PROJECT OVERVIEW AND SCOPE</a:t>
            </a:r>
            <a:endParaRPr lang="en-GB" sz="3200" b="1" dirty="0">
              <a:latin typeface="Century Gothic" panose="020B0502020202020204" pitchFamily="34" charset="0"/>
            </a:endParaRPr>
          </a:p>
        </p:txBody>
      </p:sp>
    </p:spTree>
    <p:extLst>
      <p:ext uri="{BB962C8B-B14F-4D97-AF65-F5344CB8AC3E}">
        <p14:creationId xmlns:p14="http://schemas.microsoft.com/office/powerpoint/2010/main" val="7620120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pic>
        <p:nvPicPr>
          <p:cNvPr id="3" name="Google Shape;146;p60" descr="360DigiTMG Reviews - 52 Reviews of 360digitmg.com | Sitejabber">
            <a:extLst>
              <a:ext uri="{FF2B5EF4-FFF2-40B4-BE49-F238E27FC236}">
                <a16:creationId xmlns:a16="http://schemas.microsoft.com/office/drawing/2014/main" id="{14FDDCFD-40FE-5A53-3860-31E21DF56EC1}"/>
              </a:ext>
            </a:extLst>
          </p:cNvPr>
          <p:cNvPicPr preferRelativeResize="0"/>
          <p:nvPr/>
        </p:nvPicPr>
        <p:blipFill rotWithShape="1">
          <a:blip r:embed="rId3">
            <a:alphaModFix/>
          </a:blip>
          <a:srcRect/>
          <a:stretch/>
        </p:blipFill>
        <p:spPr>
          <a:xfrm>
            <a:off x="10351409" y="6213051"/>
            <a:ext cx="1840591" cy="644949"/>
          </a:xfrm>
          <a:prstGeom prst="rect">
            <a:avLst/>
          </a:prstGeom>
          <a:noFill/>
          <a:ln>
            <a:noFill/>
          </a:ln>
        </p:spPr>
      </p:pic>
      <p:sp>
        <p:nvSpPr>
          <p:cNvPr id="8" name="Rectangle: Rounded Corners 7">
            <a:extLst>
              <a:ext uri="{FF2B5EF4-FFF2-40B4-BE49-F238E27FC236}">
                <a16:creationId xmlns:a16="http://schemas.microsoft.com/office/drawing/2014/main" id="{2B8EB3E2-8D36-323A-6AAC-F6C425DE1FD7}"/>
              </a:ext>
            </a:extLst>
          </p:cNvPr>
          <p:cNvSpPr/>
          <p:nvPr/>
        </p:nvSpPr>
        <p:spPr>
          <a:xfrm>
            <a:off x="1030423" y="323833"/>
            <a:ext cx="10241281" cy="686957"/>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3200" b="1" dirty="0">
                <a:latin typeface="Century Gothic" panose="020B0502020202020204" pitchFamily="34" charset="0"/>
                <a:ea typeface="Times New Roman"/>
                <a:cs typeface="Times New Roman"/>
                <a:sym typeface="Times New Roman"/>
              </a:rPr>
              <a:t>DATA DICTIONARY </a:t>
            </a:r>
            <a:endParaRPr lang="en-GB" sz="3200" b="1" dirty="0">
              <a:latin typeface="Century Gothic" panose="020B0502020202020204" pitchFamily="34" charset="0"/>
            </a:endParaRPr>
          </a:p>
        </p:txBody>
      </p:sp>
      <p:graphicFrame>
        <p:nvGraphicFramePr>
          <p:cNvPr id="5" name="Table 4">
            <a:extLst>
              <a:ext uri="{FF2B5EF4-FFF2-40B4-BE49-F238E27FC236}">
                <a16:creationId xmlns:a16="http://schemas.microsoft.com/office/drawing/2014/main" id="{AE95E8AE-6229-470E-AFAD-C4721B52C725}"/>
              </a:ext>
            </a:extLst>
          </p:cNvPr>
          <p:cNvGraphicFramePr>
            <a:graphicFrameLocks noGrp="1"/>
          </p:cNvGraphicFramePr>
          <p:nvPr>
            <p:extLst>
              <p:ext uri="{D42A27DB-BD31-4B8C-83A1-F6EECF244321}">
                <p14:modId xmlns:p14="http://schemas.microsoft.com/office/powerpoint/2010/main" val="2667470840"/>
              </p:ext>
            </p:extLst>
          </p:nvPr>
        </p:nvGraphicFramePr>
        <p:xfrm>
          <a:off x="1527142" y="1010790"/>
          <a:ext cx="9275976" cy="5258530"/>
        </p:xfrm>
        <a:graphic>
          <a:graphicData uri="http://schemas.openxmlformats.org/drawingml/2006/table">
            <a:tbl>
              <a:tblPr/>
              <a:tblGrid>
                <a:gridCol w="3091992">
                  <a:extLst>
                    <a:ext uri="{9D8B030D-6E8A-4147-A177-3AD203B41FA5}">
                      <a16:colId xmlns:a16="http://schemas.microsoft.com/office/drawing/2014/main" val="819597100"/>
                    </a:ext>
                  </a:extLst>
                </a:gridCol>
                <a:gridCol w="3091992">
                  <a:extLst>
                    <a:ext uri="{9D8B030D-6E8A-4147-A177-3AD203B41FA5}">
                      <a16:colId xmlns:a16="http://schemas.microsoft.com/office/drawing/2014/main" val="895779728"/>
                    </a:ext>
                  </a:extLst>
                </a:gridCol>
                <a:gridCol w="3091992">
                  <a:extLst>
                    <a:ext uri="{9D8B030D-6E8A-4147-A177-3AD203B41FA5}">
                      <a16:colId xmlns:a16="http://schemas.microsoft.com/office/drawing/2014/main" val="863183934"/>
                    </a:ext>
                  </a:extLst>
                </a:gridCol>
              </a:tblGrid>
              <a:tr h="305655">
                <a:tc>
                  <a:txBody>
                    <a:bodyPr/>
                    <a:lstStyle/>
                    <a:p>
                      <a:pPr algn="ctr"/>
                      <a:r>
                        <a:rPr lang="en-IN" sz="2000" b="1" dirty="0">
                          <a:solidFill>
                            <a:schemeClr val="bg1"/>
                          </a:solidFill>
                          <a:highlight>
                            <a:srgbClr val="FFFF00"/>
                          </a:highlight>
                        </a:rPr>
                        <a:t>Field Name</a:t>
                      </a:r>
                    </a:p>
                  </a:txBody>
                  <a:tcPr marL="57124" marR="57124" marT="28562" marB="28562" anchor="ctr">
                    <a:lnL>
                      <a:noFill/>
                    </a:lnL>
                    <a:lnR>
                      <a:noFill/>
                    </a:lnR>
                    <a:lnT>
                      <a:noFill/>
                    </a:lnT>
                    <a:lnB>
                      <a:noFill/>
                    </a:lnB>
                  </a:tcPr>
                </a:tc>
                <a:tc>
                  <a:txBody>
                    <a:bodyPr/>
                    <a:lstStyle/>
                    <a:p>
                      <a:pPr algn="ctr"/>
                      <a:r>
                        <a:rPr lang="en-IN" sz="2000" b="1" dirty="0">
                          <a:solidFill>
                            <a:schemeClr val="bg1"/>
                          </a:solidFill>
                          <a:highlight>
                            <a:srgbClr val="FFFF00"/>
                          </a:highlight>
                        </a:rPr>
                        <a:t>Data Type</a:t>
                      </a:r>
                    </a:p>
                  </a:txBody>
                  <a:tcPr marL="57124" marR="57124" marT="28562" marB="28562" anchor="ctr">
                    <a:lnL>
                      <a:noFill/>
                    </a:lnL>
                    <a:lnR>
                      <a:noFill/>
                    </a:lnR>
                    <a:lnT>
                      <a:noFill/>
                    </a:lnT>
                    <a:lnB>
                      <a:noFill/>
                    </a:lnB>
                  </a:tcPr>
                </a:tc>
                <a:tc>
                  <a:txBody>
                    <a:bodyPr/>
                    <a:lstStyle/>
                    <a:p>
                      <a:pPr algn="ctr"/>
                      <a:r>
                        <a:rPr lang="en-IN" sz="2000" b="1" dirty="0">
                          <a:solidFill>
                            <a:schemeClr val="bg1"/>
                          </a:solidFill>
                          <a:highlight>
                            <a:srgbClr val="FFFF00"/>
                          </a:highlight>
                        </a:rPr>
                        <a:t>Description</a:t>
                      </a:r>
                    </a:p>
                  </a:txBody>
                  <a:tcPr marL="57124" marR="57124" marT="28562" marB="28562" anchor="ctr">
                    <a:lnL>
                      <a:noFill/>
                    </a:lnL>
                    <a:lnR>
                      <a:noFill/>
                    </a:lnR>
                    <a:lnT>
                      <a:noFill/>
                    </a:lnT>
                    <a:lnB>
                      <a:noFill/>
                    </a:lnB>
                  </a:tcPr>
                </a:tc>
                <a:extLst>
                  <a:ext uri="{0D108BD9-81ED-4DB2-BD59-A6C34878D82A}">
                    <a16:rowId xmlns:a16="http://schemas.microsoft.com/office/drawing/2014/main" val="2378632189"/>
                  </a:ext>
                </a:extLst>
              </a:tr>
              <a:tr h="394209">
                <a:tc>
                  <a:txBody>
                    <a:bodyPr/>
                    <a:lstStyle/>
                    <a:p>
                      <a:pPr algn="ctr"/>
                      <a:r>
                        <a:rPr lang="en-IN" sz="1600" b="1" dirty="0">
                          <a:solidFill>
                            <a:schemeClr val="bg1"/>
                          </a:solidFill>
                        </a:rPr>
                        <a:t>Patient ID</a:t>
                      </a:r>
                    </a:p>
                  </a:txBody>
                  <a:tcPr marL="57124" marR="57124" marT="28562" marB="28562" anchor="ctr">
                    <a:lnL>
                      <a:noFill/>
                    </a:lnL>
                    <a:lnR>
                      <a:noFill/>
                    </a:lnR>
                    <a:lnT>
                      <a:noFill/>
                    </a:lnT>
                    <a:lnB>
                      <a:noFill/>
                    </a:lnB>
                  </a:tcPr>
                </a:tc>
                <a:tc>
                  <a:txBody>
                    <a:bodyPr/>
                    <a:lstStyle/>
                    <a:p>
                      <a:pPr algn="ctr"/>
                      <a:r>
                        <a:rPr lang="en-IN" sz="1600" b="1">
                          <a:solidFill>
                            <a:schemeClr val="bg1"/>
                          </a:solidFill>
                        </a:rPr>
                        <a:t>Numeric</a:t>
                      </a:r>
                    </a:p>
                  </a:txBody>
                  <a:tcPr marL="57124" marR="57124" marT="28562" marB="28562" anchor="ctr">
                    <a:lnL>
                      <a:noFill/>
                    </a:lnL>
                    <a:lnR>
                      <a:noFill/>
                    </a:lnR>
                    <a:lnT>
                      <a:noFill/>
                    </a:lnT>
                    <a:lnB>
                      <a:noFill/>
                    </a:lnB>
                  </a:tcPr>
                </a:tc>
                <a:tc>
                  <a:txBody>
                    <a:bodyPr/>
                    <a:lstStyle/>
                    <a:p>
                      <a:pPr algn="ctr"/>
                      <a:r>
                        <a:rPr lang="en-US" sz="1600" b="1">
                          <a:solidFill>
                            <a:schemeClr val="bg1"/>
                          </a:solidFill>
                        </a:rPr>
                        <a:t>Unique identifier for each patient</a:t>
                      </a:r>
                    </a:p>
                  </a:txBody>
                  <a:tcPr marL="57124" marR="57124" marT="28562" marB="28562" anchor="ctr">
                    <a:lnL>
                      <a:noFill/>
                    </a:lnL>
                    <a:lnR>
                      <a:noFill/>
                    </a:lnR>
                    <a:lnT>
                      <a:noFill/>
                    </a:lnT>
                    <a:lnB>
                      <a:noFill/>
                    </a:lnB>
                  </a:tcPr>
                </a:tc>
                <a:extLst>
                  <a:ext uri="{0D108BD9-81ED-4DB2-BD59-A6C34878D82A}">
                    <a16:rowId xmlns:a16="http://schemas.microsoft.com/office/drawing/2014/main" val="3596595098"/>
                  </a:ext>
                </a:extLst>
              </a:tr>
              <a:tr h="553295">
                <a:tc>
                  <a:txBody>
                    <a:bodyPr/>
                    <a:lstStyle/>
                    <a:p>
                      <a:pPr algn="ctr"/>
                      <a:r>
                        <a:rPr lang="en-IN" sz="1600" b="1" dirty="0">
                          <a:solidFill>
                            <a:schemeClr val="bg1"/>
                          </a:solidFill>
                        </a:rPr>
                        <a:t>Age (Years)</a:t>
                      </a:r>
                    </a:p>
                  </a:txBody>
                  <a:tcPr marL="57124" marR="57124" marT="28562" marB="28562" anchor="ctr">
                    <a:lnL>
                      <a:noFill/>
                    </a:lnL>
                    <a:lnR>
                      <a:noFill/>
                    </a:lnR>
                    <a:lnT>
                      <a:noFill/>
                    </a:lnT>
                    <a:lnB>
                      <a:noFill/>
                    </a:lnB>
                  </a:tcPr>
                </a:tc>
                <a:tc>
                  <a:txBody>
                    <a:bodyPr/>
                    <a:lstStyle/>
                    <a:p>
                      <a:pPr algn="ctr"/>
                      <a:r>
                        <a:rPr lang="en-IN" sz="1600" b="1">
                          <a:solidFill>
                            <a:schemeClr val="bg1"/>
                          </a:solidFill>
                        </a:rPr>
                        <a:t>Numeric</a:t>
                      </a:r>
                    </a:p>
                  </a:txBody>
                  <a:tcPr marL="57124" marR="57124" marT="28562" marB="28562" anchor="ctr">
                    <a:lnL>
                      <a:noFill/>
                    </a:lnL>
                    <a:lnR>
                      <a:noFill/>
                    </a:lnR>
                    <a:lnT>
                      <a:noFill/>
                    </a:lnT>
                    <a:lnB>
                      <a:noFill/>
                    </a:lnB>
                  </a:tcPr>
                </a:tc>
                <a:tc>
                  <a:txBody>
                    <a:bodyPr/>
                    <a:lstStyle/>
                    <a:p>
                      <a:pPr algn="ctr"/>
                      <a:r>
                        <a:rPr lang="en-US" sz="1600" b="1">
                          <a:solidFill>
                            <a:schemeClr val="bg1"/>
                          </a:solidFill>
                        </a:rPr>
                        <a:t>Age of the patient at the time of IVF treatment</a:t>
                      </a:r>
                    </a:p>
                  </a:txBody>
                  <a:tcPr marL="57124" marR="57124" marT="28562" marB="28562" anchor="ctr">
                    <a:lnL>
                      <a:noFill/>
                    </a:lnL>
                    <a:lnR>
                      <a:noFill/>
                    </a:lnR>
                    <a:lnT>
                      <a:noFill/>
                    </a:lnT>
                    <a:lnB>
                      <a:noFill/>
                    </a:lnB>
                  </a:tcPr>
                </a:tc>
                <a:extLst>
                  <a:ext uri="{0D108BD9-81ED-4DB2-BD59-A6C34878D82A}">
                    <a16:rowId xmlns:a16="http://schemas.microsoft.com/office/drawing/2014/main" val="2253028704"/>
                  </a:ext>
                </a:extLst>
              </a:tr>
              <a:tr h="394209">
                <a:tc>
                  <a:txBody>
                    <a:bodyPr/>
                    <a:lstStyle/>
                    <a:p>
                      <a:pPr algn="ctr"/>
                      <a:r>
                        <a:rPr lang="en-IN" sz="1600" b="1">
                          <a:solidFill>
                            <a:schemeClr val="bg1"/>
                          </a:solidFill>
                        </a:rPr>
                        <a:t>Tribe</a:t>
                      </a:r>
                    </a:p>
                  </a:txBody>
                  <a:tcPr marL="57124" marR="57124" marT="28562" marB="28562" anchor="ctr">
                    <a:lnL>
                      <a:noFill/>
                    </a:lnL>
                    <a:lnR>
                      <a:noFill/>
                    </a:lnR>
                    <a:lnT>
                      <a:noFill/>
                    </a:lnT>
                    <a:lnB>
                      <a:noFill/>
                    </a:lnB>
                  </a:tcPr>
                </a:tc>
                <a:tc>
                  <a:txBody>
                    <a:bodyPr/>
                    <a:lstStyle/>
                    <a:p>
                      <a:pPr algn="ctr"/>
                      <a:r>
                        <a:rPr lang="en-IN" sz="1600" b="1">
                          <a:solidFill>
                            <a:schemeClr val="bg1"/>
                          </a:solidFill>
                        </a:rPr>
                        <a:t>Categorical</a:t>
                      </a:r>
                    </a:p>
                  </a:txBody>
                  <a:tcPr marL="57124" marR="57124" marT="28562" marB="28562" anchor="ctr">
                    <a:lnL>
                      <a:noFill/>
                    </a:lnL>
                    <a:lnR>
                      <a:noFill/>
                    </a:lnR>
                    <a:lnT>
                      <a:noFill/>
                    </a:lnT>
                    <a:lnB>
                      <a:noFill/>
                    </a:lnB>
                  </a:tcPr>
                </a:tc>
                <a:tc>
                  <a:txBody>
                    <a:bodyPr/>
                    <a:lstStyle/>
                    <a:p>
                      <a:pPr algn="ctr"/>
                      <a:r>
                        <a:rPr lang="en-IN" sz="1600" b="1">
                          <a:solidFill>
                            <a:schemeClr val="bg1"/>
                          </a:solidFill>
                        </a:rPr>
                        <a:t>Patient demographic classification</a:t>
                      </a:r>
                    </a:p>
                  </a:txBody>
                  <a:tcPr marL="57124" marR="57124" marT="28562" marB="28562" anchor="ctr">
                    <a:lnL>
                      <a:noFill/>
                    </a:lnL>
                    <a:lnR>
                      <a:noFill/>
                    </a:lnR>
                    <a:lnT>
                      <a:noFill/>
                    </a:lnT>
                    <a:lnB>
                      <a:noFill/>
                    </a:lnB>
                  </a:tcPr>
                </a:tc>
                <a:extLst>
                  <a:ext uri="{0D108BD9-81ED-4DB2-BD59-A6C34878D82A}">
                    <a16:rowId xmlns:a16="http://schemas.microsoft.com/office/drawing/2014/main" val="2127509226"/>
                  </a:ext>
                </a:extLst>
              </a:tr>
              <a:tr h="394209">
                <a:tc>
                  <a:txBody>
                    <a:bodyPr/>
                    <a:lstStyle/>
                    <a:p>
                      <a:pPr algn="ctr"/>
                      <a:r>
                        <a:rPr lang="en-IN" sz="1600" b="1">
                          <a:solidFill>
                            <a:schemeClr val="bg1"/>
                          </a:solidFill>
                        </a:rPr>
                        <a:t>Religion</a:t>
                      </a:r>
                    </a:p>
                  </a:txBody>
                  <a:tcPr marL="57124" marR="57124" marT="28562" marB="28562" anchor="ctr">
                    <a:lnL>
                      <a:noFill/>
                    </a:lnL>
                    <a:lnR>
                      <a:noFill/>
                    </a:lnR>
                    <a:lnT>
                      <a:noFill/>
                    </a:lnT>
                    <a:lnB>
                      <a:noFill/>
                    </a:lnB>
                  </a:tcPr>
                </a:tc>
                <a:tc>
                  <a:txBody>
                    <a:bodyPr/>
                    <a:lstStyle/>
                    <a:p>
                      <a:pPr algn="ctr"/>
                      <a:r>
                        <a:rPr lang="en-IN" sz="1600" b="1">
                          <a:solidFill>
                            <a:schemeClr val="bg1"/>
                          </a:solidFill>
                        </a:rPr>
                        <a:t>Categorical</a:t>
                      </a:r>
                    </a:p>
                  </a:txBody>
                  <a:tcPr marL="57124" marR="57124" marT="28562" marB="28562" anchor="ctr">
                    <a:lnL>
                      <a:noFill/>
                    </a:lnL>
                    <a:lnR>
                      <a:noFill/>
                    </a:lnR>
                    <a:lnT>
                      <a:noFill/>
                    </a:lnT>
                    <a:lnB>
                      <a:noFill/>
                    </a:lnB>
                  </a:tcPr>
                </a:tc>
                <a:tc>
                  <a:txBody>
                    <a:bodyPr/>
                    <a:lstStyle/>
                    <a:p>
                      <a:pPr algn="ctr"/>
                      <a:r>
                        <a:rPr lang="en-US" sz="1600" b="1">
                          <a:solidFill>
                            <a:schemeClr val="bg1"/>
                          </a:solidFill>
                        </a:rPr>
                        <a:t>Religion category of the patient</a:t>
                      </a:r>
                    </a:p>
                  </a:txBody>
                  <a:tcPr marL="57124" marR="57124" marT="28562" marB="28562" anchor="ctr">
                    <a:lnL>
                      <a:noFill/>
                    </a:lnL>
                    <a:lnR>
                      <a:noFill/>
                    </a:lnR>
                    <a:lnT>
                      <a:noFill/>
                    </a:lnT>
                    <a:lnB>
                      <a:noFill/>
                    </a:lnB>
                  </a:tcPr>
                </a:tc>
                <a:extLst>
                  <a:ext uri="{0D108BD9-81ED-4DB2-BD59-A6C34878D82A}">
                    <a16:rowId xmlns:a16="http://schemas.microsoft.com/office/drawing/2014/main" val="3546063751"/>
                  </a:ext>
                </a:extLst>
              </a:tr>
              <a:tr h="553295">
                <a:tc>
                  <a:txBody>
                    <a:bodyPr/>
                    <a:lstStyle/>
                    <a:p>
                      <a:pPr algn="ctr"/>
                      <a:r>
                        <a:rPr lang="en-IN" sz="1600" b="1">
                          <a:solidFill>
                            <a:schemeClr val="bg1"/>
                          </a:solidFill>
                        </a:rPr>
                        <a:t>Year</a:t>
                      </a:r>
                    </a:p>
                  </a:txBody>
                  <a:tcPr marL="57124" marR="57124" marT="28562" marB="28562" anchor="ctr">
                    <a:lnL>
                      <a:noFill/>
                    </a:lnL>
                    <a:lnR>
                      <a:noFill/>
                    </a:lnR>
                    <a:lnT>
                      <a:noFill/>
                    </a:lnT>
                    <a:lnB>
                      <a:noFill/>
                    </a:lnB>
                  </a:tcPr>
                </a:tc>
                <a:tc>
                  <a:txBody>
                    <a:bodyPr/>
                    <a:lstStyle/>
                    <a:p>
                      <a:pPr algn="ctr"/>
                      <a:r>
                        <a:rPr lang="en-IN" sz="1600" b="1">
                          <a:solidFill>
                            <a:schemeClr val="bg1"/>
                          </a:solidFill>
                        </a:rPr>
                        <a:t>Numeric</a:t>
                      </a:r>
                    </a:p>
                  </a:txBody>
                  <a:tcPr marL="57124" marR="57124" marT="28562" marB="28562" anchor="ctr">
                    <a:lnL>
                      <a:noFill/>
                    </a:lnL>
                    <a:lnR>
                      <a:noFill/>
                    </a:lnR>
                    <a:lnT>
                      <a:noFill/>
                    </a:lnT>
                    <a:lnB>
                      <a:noFill/>
                    </a:lnB>
                  </a:tcPr>
                </a:tc>
                <a:tc>
                  <a:txBody>
                    <a:bodyPr/>
                    <a:lstStyle/>
                    <a:p>
                      <a:pPr algn="ctr"/>
                      <a:r>
                        <a:rPr lang="en-US" sz="1600" b="1">
                          <a:solidFill>
                            <a:schemeClr val="bg1"/>
                          </a:solidFill>
                        </a:rPr>
                        <a:t>Year in which the IVF cycle was performed</a:t>
                      </a:r>
                    </a:p>
                  </a:txBody>
                  <a:tcPr marL="57124" marR="57124" marT="28562" marB="28562" anchor="ctr">
                    <a:lnL>
                      <a:noFill/>
                    </a:lnL>
                    <a:lnR>
                      <a:noFill/>
                    </a:lnR>
                    <a:lnT>
                      <a:noFill/>
                    </a:lnT>
                    <a:lnB>
                      <a:noFill/>
                    </a:lnB>
                  </a:tcPr>
                </a:tc>
                <a:extLst>
                  <a:ext uri="{0D108BD9-81ED-4DB2-BD59-A6C34878D82A}">
                    <a16:rowId xmlns:a16="http://schemas.microsoft.com/office/drawing/2014/main" val="1575186837"/>
                  </a:ext>
                </a:extLst>
              </a:tr>
              <a:tr h="553295">
                <a:tc>
                  <a:txBody>
                    <a:bodyPr/>
                    <a:lstStyle/>
                    <a:p>
                      <a:pPr algn="ctr"/>
                      <a:r>
                        <a:rPr lang="en-IN" sz="1600" b="1">
                          <a:solidFill>
                            <a:schemeClr val="bg1"/>
                          </a:solidFill>
                        </a:rPr>
                        <a:t>Method of Fertilization</a:t>
                      </a:r>
                    </a:p>
                  </a:txBody>
                  <a:tcPr marL="57124" marR="57124" marT="28562" marB="28562" anchor="ctr">
                    <a:lnL>
                      <a:noFill/>
                    </a:lnL>
                    <a:lnR>
                      <a:noFill/>
                    </a:lnR>
                    <a:lnT>
                      <a:noFill/>
                    </a:lnT>
                    <a:lnB>
                      <a:noFill/>
                    </a:lnB>
                  </a:tcPr>
                </a:tc>
                <a:tc>
                  <a:txBody>
                    <a:bodyPr/>
                    <a:lstStyle/>
                    <a:p>
                      <a:pPr algn="ctr"/>
                      <a:r>
                        <a:rPr lang="en-IN" sz="1600" b="1">
                          <a:solidFill>
                            <a:schemeClr val="bg1"/>
                          </a:solidFill>
                        </a:rPr>
                        <a:t>Categorical</a:t>
                      </a:r>
                    </a:p>
                  </a:txBody>
                  <a:tcPr marL="57124" marR="57124" marT="28562" marB="28562" anchor="ctr">
                    <a:lnL>
                      <a:noFill/>
                    </a:lnL>
                    <a:lnR>
                      <a:noFill/>
                    </a:lnR>
                    <a:lnT>
                      <a:noFill/>
                    </a:lnT>
                    <a:lnB>
                      <a:noFill/>
                    </a:lnB>
                  </a:tcPr>
                </a:tc>
                <a:tc>
                  <a:txBody>
                    <a:bodyPr/>
                    <a:lstStyle/>
                    <a:p>
                      <a:pPr algn="ctr"/>
                      <a:r>
                        <a:rPr lang="en-US" sz="1600" b="1">
                          <a:solidFill>
                            <a:schemeClr val="bg1"/>
                          </a:solidFill>
                        </a:rPr>
                        <a:t>Fertilization method used (IVF / ICSI)</a:t>
                      </a:r>
                    </a:p>
                  </a:txBody>
                  <a:tcPr marL="57124" marR="57124" marT="28562" marB="28562" anchor="ctr">
                    <a:lnL>
                      <a:noFill/>
                    </a:lnL>
                    <a:lnR>
                      <a:noFill/>
                    </a:lnR>
                    <a:lnT>
                      <a:noFill/>
                    </a:lnT>
                    <a:lnB>
                      <a:noFill/>
                    </a:lnB>
                  </a:tcPr>
                </a:tc>
                <a:extLst>
                  <a:ext uri="{0D108BD9-81ED-4DB2-BD59-A6C34878D82A}">
                    <a16:rowId xmlns:a16="http://schemas.microsoft.com/office/drawing/2014/main" val="892635064"/>
                  </a:ext>
                </a:extLst>
              </a:tr>
              <a:tr h="553295">
                <a:tc>
                  <a:txBody>
                    <a:bodyPr/>
                    <a:lstStyle/>
                    <a:p>
                      <a:pPr algn="ctr"/>
                      <a:r>
                        <a:rPr lang="en-IN" sz="1600" b="1">
                          <a:solidFill>
                            <a:schemeClr val="bg1"/>
                          </a:solidFill>
                        </a:rPr>
                        <a:t>Stimulation Protocol</a:t>
                      </a:r>
                    </a:p>
                  </a:txBody>
                  <a:tcPr marL="57124" marR="57124" marT="28562" marB="28562" anchor="ctr">
                    <a:lnL>
                      <a:noFill/>
                    </a:lnL>
                    <a:lnR>
                      <a:noFill/>
                    </a:lnR>
                    <a:lnT>
                      <a:noFill/>
                    </a:lnT>
                    <a:lnB>
                      <a:noFill/>
                    </a:lnB>
                  </a:tcPr>
                </a:tc>
                <a:tc>
                  <a:txBody>
                    <a:bodyPr/>
                    <a:lstStyle/>
                    <a:p>
                      <a:pPr algn="ctr"/>
                      <a:r>
                        <a:rPr lang="en-IN" sz="1600" b="1">
                          <a:solidFill>
                            <a:schemeClr val="bg1"/>
                          </a:solidFill>
                        </a:rPr>
                        <a:t>Categorical</a:t>
                      </a:r>
                    </a:p>
                  </a:txBody>
                  <a:tcPr marL="57124" marR="57124" marT="28562" marB="28562" anchor="ctr">
                    <a:lnL>
                      <a:noFill/>
                    </a:lnL>
                    <a:lnR>
                      <a:noFill/>
                    </a:lnR>
                    <a:lnT>
                      <a:noFill/>
                    </a:lnT>
                    <a:lnB>
                      <a:noFill/>
                    </a:lnB>
                  </a:tcPr>
                </a:tc>
                <a:tc>
                  <a:txBody>
                    <a:bodyPr/>
                    <a:lstStyle/>
                    <a:p>
                      <a:pPr algn="ctr"/>
                      <a:r>
                        <a:rPr lang="en-IN" sz="1600" b="1">
                          <a:solidFill>
                            <a:schemeClr val="bg1"/>
                          </a:solidFill>
                        </a:rPr>
                        <a:t>Ovarian stimulation protocol followed</a:t>
                      </a:r>
                    </a:p>
                  </a:txBody>
                  <a:tcPr marL="57124" marR="57124" marT="28562" marB="28562" anchor="ctr">
                    <a:lnL>
                      <a:noFill/>
                    </a:lnL>
                    <a:lnR>
                      <a:noFill/>
                    </a:lnR>
                    <a:lnT>
                      <a:noFill/>
                    </a:lnT>
                    <a:lnB>
                      <a:noFill/>
                    </a:lnB>
                  </a:tcPr>
                </a:tc>
                <a:extLst>
                  <a:ext uri="{0D108BD9-81ED-4DB2-BD59-A6C34878D82A}">
                    <a16:rowId xmlns:a16="http://schemas.microsoft.com/office/drawing/2014/main" val="618686189"/>
                  </a:ext>
                </a:extLst>
              </a:tr>
              <a:tr h="553295">
                <a:tc>
                  <a:txBody>
                    <a:bodyPr/>
                    <a:lstStyle/>
                    <a:p>
                      <a:pPr algn="ctr"/>
                      <a:r>
                        <a:rPr lang="en-IN" sz="1600" b="1">
                          <a:solidFill>
                            <a:schemeClr val="bg1"/>
                          </a:solidFill>
                        </a:rPr>
                        <a:t>Serum AMH (pmol/L)</a:t>
                      </a:r>
                    </a:p>
                  </a:txBody>
                  <a:tcPr marL="57124" marR="57124" marT="28562" marB="28562" anchor="ctr">
                    <a:lnL>
                      <a:noFill/>
                    </a:lnL>
                    <a:lnR>
                      <a:noFill/>
                    </a:lnR>
                    <a:lnT>
                      <a:noFill/>
                    </a:lnT>
                    <a:lnB>
                      <a:noFill/>
                    </a:lnB>
                  </a:tcPr>
                </a:tc>
                <a:tc>
                  <a:txBody>
                    <a:bodyPr/>
                    <a:lstStyle/>
                    <a:p>
                      <a:pPr algn="ctr"/>
                      <a:r>
                        <a:rPr lang="en-IN" sz="1600" b="1">
                          <a:solidFill>
                            <a:schemeClr val="bg1"/>
                          </a:solidFill>
                        </a:rPr>
                        <a:t>Decimal</a:t>
                      </a:r>
                    </a:p>
                  </a:txBody>
                  <a:tcPr marL="57124" marR="57124" marT="28562" marB="28562" anchor="ctr">
                    <a:lnL>
                      <a:noFill/>
                    </a:lnL>
                    <a:lnR>
                      <a:noFill/>
                    </a:lnR>
                    <a:lnT>
                      <a:noFill/>
                    </a:lnT>
                    <a:lnB>
                      <a:noFill/>
                    </a:lnB>
                  </a:tcPr>
                </a:tc>
                <a:tc>
                  <a:txBody>
                    <a:bodyPr/>
                    <a:lstStyle/>
                    <a:p>
                      <a:pPr algn="ctr"/>
                      <a:r>
                        <a:rPr lang="en-US" sz="1600" b="1">
                          <a:solidFill>
                            <a:schemeClr val="bg1"/>
                          </a:solidFill>
                        </a:rPr>
                        <a:t>Anti-Müllerian Hormone level indicating ovarian reserve</a:t>
                      </a:r>
                    </a:p>
                  </a:txBody>
                  <a:tcPr marL="57124" marR="57124" marT="28562" marB="28562" anchor="ctr">
                    <a:lnL>
                      <a:noFill/>
                    </a:lnL>
                    <a:lnR>
                      <a:noFill/>
                    </a:lnR>
                    <a:lnT>
                      <a:noFill/>
                    </a:lnT>
                    <a:lnB>
                      <a:noFill/>
                    </a:lnB>
                  </a:tcPr>
                </a:tc>
                <a:extLst>
                  <a:ext uri="{0D108BD9-81ED-4DB2-BD59-A6C34878D82A}">
                    <a16:rowId xmlns:a16="http://schemas.microsoft.com/office/drawing/2014/main" val="415670855"/>
                  </a:ext>
                </a:extLst>
              </a:tr>
              <a:tr h="394209">
                <a:tc>
                  <a:txBody>
                    <a:bodyPr/>
                    <a:lstStyle/>
                    <a:p>
                      <a:pPr algn="ctr"/>
                      <a:r>
                        <a:rPr lang="en-IN" sz="1600" b="1">
                          <a:solidFill>
                            <a:schemeClr val="bg1"/>
                          </a:solidFill>
                        </a:rPr>
                        <a:t>Outcome</a:t>
                      </a:r>
                    </a:p>
                  </a:txBody>
                  <a:tcPr marL="57124" marR="57124" marT="28562" marB="28562" anchor="ctr">
                    <a:lnL>
                      <a:noFill/>
                    </a:lnL>
                    <a:lnR>
                      <a:noFill/>
                    </a:lnR>
                    <a:lnT>
                      <a:noFill/>
                    </a:lnT>
                    <a:lnB>
                      <a:noFill/>
                    </a:lnB>
                  </a:tcPr>
                </a:tc>
                <a:tc>
                  <a:txBody>
                    <a:bodyPr/>
                    <a:lstStyle/>
                    <a:p>
                      <a:pPr algn="ctr"/>
                      <a:r>
                        <a:rPr lang="en-IN" sz="1600" b="1">
                          <a:solidFill>
                            <a:schemeClr val="bg1"/>
                          </a:solidFill>
                        </a:rPr>
                        <a:t>Categorical</a:t>
                      </a:r>
                    </a:p>
                  </a:txBody>
                  <a:tcPr marL="57124" marR="57124" marT="28562" marB="28562" anchor="ctr">
                    <a:lnL>
                      <a:noFill/>
                    </a:lnL>
                    <a:lnR>
                      <a:noFill/>
                    </a:lnR>
                    <a:lnT>
                      <a:noFill/>
                    </a:lnT>
                    <a:lnB>
                      <a:noFill/>
                    </a:lnB>
                  </a:tcPr>
                </a:tc>
                <a:tc>
                  <a:txBody>
                    <a:bodyPr/>
                    <a:lstStyle/>
                    <a:p>
                      <a:pPr algn="ctr"/>
                      <a:r>
                        <a:rPr lang="en-IN" sz="1600" b="1">
                          <a:solidFill>
                            <a:schemeClr val="bg1"/>
                          </a:solidFill>
                        </a:rPr>
                        <a:t>IVF treatment outcome category</a:t>
                      </a:r>
                    </a:p>
                  </a:txBody>
                  <a:tcPr marL="57124" marR="57124" marT="28562" marB="28562" anchor="ctr">
                    <a:lnL>
                      <a:noFill/>
                    </a:lnL>
                    <a:lnR>
                      <a:noFill/>
                    </a:lnR>
                    <a:lnT>
                      <a:noFill/>
                    </a:lnT>
                    <a:lnB>
                      <a:noFill/>
                    </a:lnB>
                  </a:tcPr>
                </a:tc>
                <a:extLst>
                  <a:ext uri="{0D108BD9-81ED-4DB2-BD59-A6C34878D82A}">
                    <a16:rowId xmlns:a16="http://schemas.microsoft.com/office/drawing/2014/main" val="2250296099"/>
                  </a:ext>
                </a:extLst>
              </a:tr>
              <a:tr h="553295">
                <a:tc>
                  <a:txBody>
                    <a:bodyPr/>
                    <a:lstStyle/>
                    <a:p>
                      <a:pPr algn="ctr"/>
                      <a:r>
                        <a:rPr lang="en-IN" sz="1600" b="1">
                          <a:solidFill>
                            <a:schemeClr val="bg1"/>
                          </a:solidFill>
                        </a:rPr>
                        <a:t>Success Flag</a:t>
                      </a:r>
                    </a:p>
                  </a:txBody>
                  <a:tcPr marL="57124" marR="57124" marT="28562" marB="28562" anchor="ctr">
                    <a:lnL>
                      <a:noFill/>
                    </a:lnL>
                    <a:lnR>
                      <a:noFill/>
                    </a:lnR>
                    <a:lnT>
                      <a:noFill/>
                    </a:lnT>
                    <a:lnB>
                      <a:noFill/>
                    </a:lnB>
                  </a:tcPr>
                </a:tc>
                <a:tc>
                  <a:txBody>
                    <a:bodyPr/>
                    <a:lstStyle/>
                    <a:p>
                      <a:pPr algn="ctr"/>
                      <a:r>
                        <a:rPr lang="en-IN" sz="1600" b="1">
                          <a:solidFill>
                            <a:schemeClr val="bg1"/>
                          </a:solidFill>
                        </a:rPr>
                        <a:t>Numeric</a:t>
                      </a:r>
                    </a:p>
                  </a:txBody>
                  <a:tcPr marL="57124" marR="57124" marT="28562" marB="28562" anchor="ctr">
                    <a:lnL>
                      <a:noFill/>
                    </a:lnL>
                    <a:lnR>
                      <a:noFill/>
                    </a:lnR>
                    <a:lnT>
                      <a:noFill/>
                    </a:lnT>
                    <a:lnB>
                      <a:noFill/>
                    </a:lnB>
                  </a:tcPr>
                </a:tc>
                <a:tc>
                  <a:txBody>
                    <a:bodyPr/>
                    <a:lstStyle/>
                    <a:p>
                      <a:pPr algn="ctr"/>
                      <a:r>
                        <a:rPr lang="en-US" sz="1600" b="1" dirty="0">
                          <a:solidFill>
                            <a:schemeClr val="bg1"/>
                          </a:solidFill>
                        </a:rPr>
                        <a:t>Treatment success indicator (1 = Success, 0 = Failure)</a:t>
                      </a:r>
                    </a:p>
                  </a:txBody>
                  <a:tcPr marL="57124" marR="57124" marT="28562" marB="28562" anchor="ctr">
                    <a:lnL>
                      <a:noFill/>
                    </a:lnL>
                    <a:lnR>
                      <a:noFill/>
                    </a:lnR>
                    <a:lnT>
                      <a:noFill/>
                    </a:lnT>
                    <a:lnB>
                      <a:noFill/>
                    </a:lnB>
                  </a:tcPr>
                </a:tc>
                <a:extLst>
                  <a:ext uri="{0D108BD9-81ED-4DB2-BD59-A6C34878D82A}">
                    <a16:rowId xmlns:a16="http://schemas.microsoft.com/office/drawing/2014/main" val="2907177724"/>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3" name="Google Shape;113;p25"/>
          <p:cNvSpPr txBox="1">
            <a:spLocks noGrp="1"/>
          </p:cNvSpPr>
          <p:nvPr>
            <p:ph type="sldNum" idx="12"/>
          </p:nvPr>
        </p:nvSpPr>
        <p:spPr>
          <a:noFill/>
          <a:ln>
            <a:noFill/>
          </a:ln>
        </p:spPr>
        <p:txBody>
          <a:bodyPr spcFirstLastPara="1" wrap="square" lIns="91400" tIns="45675" rIns="91400" bIns="45675" anchor="ctr" anchorCtr="0">
            <a:noAutofit/>
          </a:bodyPr>
          <a:lstStyle/>
          <a:p>
            <a:pPr lvl="0"/>
            <a:fld id="{00000000-1234-1234-1234-123412341234}" type="slidenum">
              <a:rPr lang="en-US"/>
              <a:pPr lvl="0"/>
              <a:t>9</a:t>
            </a:fld>
            <a:endParaRPr lang="en-US"/>
          </a:p>
        </p:txBody>
      </p:sp>
      <p:sp>
        <p:nvSpPr>
          <p:cNvPr id="114" name="Google Shape;114;p25"/>
          <p:cNvSpPr txBox="1"/>
          <p:nvPr/>
        </p:nvSpPr>
        <p:spPr>
          <a:xfrm>
            <a:off x="609600" y="1181100"/>
            <a:ext cx="1943100" cy="61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15" name="Google Shape;115;p25"/>
          <p:cNvSpPr txBox="1"/>
          <p:nvPr/>
        </p:nvSpPr>
        <p:spPr>
          <a:xfrm>
            <a:off x="867439" y="1128809"/>
            <a:ext cx="89916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19" name="Google Shape;119;p25"/>
          <p:cNvSpPr/>
          <p:nvPr/>
        </p:nvSpPr>
        <p:spPr>
          <a:xfrm>
            <a:off x="559838" y="1181100"/>
            <a:ext cx="5374433" cy="4771831"/>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228600" marR="0" lvl="0" indent="-228600" rtl="0">
              <a:lnSpc>
                <a:spcPct val="100000"/>
              </a:lnSpc>
              <a:spcBef>
                <a:spcPts val="0"/>
              </a:spcBef>
              <a:spcAft>
                <a:spcPts val="0"/>
              </a:spcAft>
              <a:buFont typeface="+mj-lt"/>
              <a:buAutoNum type="arabicPeriod"/>
            </a:pPr>
            <a:r>
              <a:rPr lang="en-US" sz="1200" b="1" dirty="0">
                <a:solidFill>
                  <a:schemeClr val="dk1"/>
                </a:solidFill>
                <a:latin typeface="Arial Black" panose="020B0A04020102020204" pitchFamily="34" charset="0"/>
                <a:cs typeface="Arial" panose="020B0604020202020204" pitchFamily="34" charset="0"/>
              </a:rPr>
              <a:t>Mean &amp; Median (Age &amp; AMH Levels)</a:t>
            </a:r>
          </a:p>
          <a:p>
            <a:pPr marR="0" lvl="0" rtl="0">
              <a:lnSpc>
                <a:spcPct val="100000"/>
              </a:lnSpc>
              <a:spcBef>
                <a:spcPts val="0"/>
              </a:spcBef>
              <a:spcAft>
                <a:spcPts val="0"/>
              </a:spcAft>
            </a:pPr>
            <a:r>
              <a:rPr lang="en-US" sz="1200" dirty="0">
                <a:solidFill>
                  <a:schemeClr val="dk1"/>
                </a:solidFill>
                <a:latin typeface="Calibri" panose="020F0502020204030204" pitchFamily="34" charset="0"/>
                <a:ea typeface="Calibri" panose="020F0502020204030204" pitchFamily="34" charset="0"/>
                <a:cs typeface="Calibri" panose="020F0502020204030204" pitchFamily="34" charset="0"/>
              </a:rPr>
              <a:t>The mean and median values of patient age and Serum AMH levels are closely aligned, indicating a well-balanced patient distribution with minimal skewness. This suggests that the dataset is representative of the clinic’s typical patient population and allows reliable comparison of IVF outcomes across age groups.</a:t>
            </a:r>
          </a:p>
          <a:p>
            <a:pPr marR="0" lvl="0" rtl="0">
              <a:lnSpc>
                <a:spcPct val="100000"/>
              </a:lnSpc>
              <a:spcBef>
                <a:spcPts val="0"/>
              </a:spcBef>
              <a:spcAft>
                <a:spcPts val="0"/>
              </a:spcAft>
            </a:pPr>
            <a:endParaRPr lang="en-US" sz="1200" dirty="0">
              <a:solidFill>
                <a:schemeClr val="dk1"/>
              </a:solidFill>
            </a:endParaRPr>
          </a:p>
          <a:p>
            <a:pPr marL="228600" marR="0" lvl="0" indent="-228600" rtl="0">
              <a:lnSpc>
                <a:spcPct val="100000"/>
              </a:lnSpc>
              <a:spcBef>
                <a:spcPts val="0"/>
              </a:spcBef>
              <a:spcAft>
                <a:spcPts val="0"/>
              </a:spcAft>
              <a:buAutoNum type="arabicPeriod" startAt="2"/>
            </a:pPr>
            <a:r>
              <a:rPr lang="en-US" sz="1200" b="1" i="0" u="none" strike="noStrike" cap="none" dirty="0">
                <a:solidFill>
                  <a:schemeClr val="dk1"/>
                </a:solidFill>
                <a:latin typeface="Arial Black" panose="020B0A04020102020204" pitchFamily="34" charset="0"/>
                <a:ea typeface="Arial"/>
                <a:cs typeface="Arial"/>
                <a:sym typeface="Arial"/>
              </a:rPr>
              <a:t>Standard Deviation &amp; Variance</a:t>
            </a:r>
          </a:p>
          <a:p>
            <a:pPr marR="0" lvl="0" rtl="0">
              <a:lnSpc>
                <a:spcPct val="100000"/>
              </a:lnSpc>
              <a:spcBef>
                <a:spcPts val="0"/>
              </a:spcBef>
              <a:spcAft>
                <a:spcPts val="0"/>
              </a:spcAft>
            </a:pPr>
            <a:r>
              <a:rPr lang="en-US" sz="1200" b="0"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Arial"/>
              </a:rPr>
              <a:t>The standard deviation of age and AMH levels shows moderate variability, reflecting natural biological differences among patients without excessive dispersion. This controlled variation supports meaningful outcome analysis and enables consistent identification of high- and low-probability success groups.</a:t>
            </a:r>
          </a:p>
          <a:p>
            <a:pPr marR="0" lvl="0" rtl="0">
              <a:lnSpc>
                <a:spcPct val="100000"/>
              </a:lnSpc>
              <a:spcBef>
                <a:spcPts val="0"/>
              </a:spcBef>
              <a:spcAft>
                <a:spcPts val="0"/>
              </a:spcAft>
            </a:pPr>
            <a:endParaRPr lang="en-US" sz="1200" b="0" i="0" u="none" strike="noStrike" cap="none" dirty="0">
              <a:solidFill>
                <a:schemeClr val="dk1"/>
              </a:solidFill>
              <a:latin typeface="Arial"/>
              <a:ea typeface="Arial"/>
              <a:cs typeface="Arial"/>
              <a:sym typeface="Arial"/>
            </a:endParaRPr>
          </a:p>
          <a:p>
            <a:pPr marR="0" lvl="0" rtl="0">
              <a:lnSpc>
                <a:spcPct val="100000"/>
              </a:lnSpc>
              <a:spcBef>
                <a:spcPts val="0"/>
              </a:spcBef>
              <a:spcAft>
                <a:spcPts val="0"/>
              </a:spcAft>
            </a:pPr>
            <a:r>
              <a:rPr lang="en-GB" sz="1200" dirty="0">
                <a:solidFill>
                  <a:schemeClr val="dk1"/>
                </a:solidFill>
              </a:rPr>
              <a:t>3. </a:t>
            </a:r>
            <a:r>
              <a:rPr lang="en-GB" sz="1200" b="1" dirty="0">
                <a:solidFill>
                  <a:schemeClr val="dk1"/>
                </a:solidFill>
                <a:latin typeface="Arial Black" panose="020B0A04020102020204" pitchFamily="34" charset="0"/>
              </a:rPr>
              <a:t>Skewness &amp; Kurtosis</a:t>
            </a:r>
          </a:p>
          <a:p>
            <a:pPr marR="0" lvl="0" rtl="0">
              <a:lnSpc>
                <a:spcPct val="100000"/>
              </a:lnSpc>
              <a:spcBef>
                <a:spcPts val="0"/>
              </a:spcBef>
              <a:spcAft>
                <a:spcPts val="0"/>
              </a:spcAft>
            </a:pPr>
            <a:r>
              <a:rPr lang="en-US" sz="1200" b="0"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Arial"/>
              </a:rPr>
              <a:t>The distributions of age and AMH levels exhibit low skewness and near-normal kurtosis, indicating fewer extreme outliers. This stability makes the dataset suitable for trend analysis, predictive modeling, and success rate forecasting without distortion from extreme cases.</a:t>
            </a:r>
          </a:p>
          <a:p>
            <a:pPr marR="0" lvl="0" rtl="0">
              <a:lnSpc>
                <a:spcPct val="100000"/>
              </a:lnSpc>
              <a:spcBef>
                <a:spcPts val="0"/>
              </a:spcBef>
              <a:spcAft>
                <a:spcPts val="0"/>
              </a:spcAft>
            </a:pPr>
            <a:endParaRPr lang="en-US" sz="1200" dirty="0">
              <a:solidFill>
                <a:schemeClr val="dk1"/>
              </a:solidFill>
            </a:endParaRPr>
          </a:p>
          <a:p>
            <a:pPr marR="0" lvl="0" rtl="0">
              <a:lnSpc>
                <a:spcPct val="100000"/>
              </a:lnSpc>
              <a:spcBef>
                <a:spcPts val="0"/>
              </a:spcBef>
              <a:spcAft>
                <a:spcPts val="0"/>
              </a:spcAft>
            </a:pPr>
            <a:r>
              <a:rPr lang="en-US" sz="1200" b="0" i="0" u="none" strike="noStrike" cap="none" dirty="0">
                <a:solidFill>
                  <a:schemeClr val="dk1"/>
                </a:solidFill>
                <a:latin typeface="Arial"/>
                <a:ea typeface="Arial"/>
                <a:cs typeface="Arial"/>
                <a:sym typeface="Arial"/>
              </a:rPr>
              <a:t>4. </a:t>
            </a:r>
            <a:r>
              <a:rPr lang="en-US" sz="1200" b="1" i="0" u="none" strike="noStrike" cap="none" dirty="0">
                <a:solidFill>
                  <a:schemeClr val="dk1"/>
                </a:solidFill>
                <a:latin typeface="Arial Black" panose="020B0A04020102020204" pitchFamily="34" charset="0"/>
                <a:ea typeface="Arial"/>
                <a:cs typeface="Arial"/>
                <a:sym typeface="Arial"/>
              </a:rPr>
              <a:t>Outcome Spread (Range)</a:t>
            </a:r>
          </a:p>
          <a:p>
            <a:pPr marR="0" lvl="0" rtl="0">
              <a:lnSpc>
                <a:spcPct val="100000"/>
              </a:lnSpc>
              <a:spcBef>
                <a:spcPts val="0"/>
              </a:spcBef>
              <a:spcAft>
                <a:spcPts val="0"/>
              </a:spcAft>
            </a:pPr>
            <a:r>
              <a:rPr lang="en-US" sz="1200" dirty="0">
                <a:solidFill>
                  <a:schemeClr val="dk1"/>
                </a:solidFill>
                <a:latin typeface="Calibri" panose="020F0502020204030204" pitchFamily="34" charset="0"/>
                <a:ea typeface="Calibri" panose="020F0502020204030204" pitchFamily="34" charset="0"/>
                <a:cs typeface="Calibri" panose="020F0502020204030204" pitchFamily="34" charset="0"/>
              </a:rPr>
              <a:t>The range of patient age and AMH values highlights a wide demographic coverage. Lower AMH levels and higher age ranges show visibly reduced IVF success rates, reinforcing the importance of patient stratification and personalized treatment planning.</a:t>
            </a:r>
            <a:endParaRPr lang="en-US" sz="1200"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120" name="Google Shape;120;p25"/>
          <p:cNvSpPr/>
          <p:nvPr/>
        </p:nvSpPr>
        <p:spPr>
          <a:xfrm>
            <a:off x="6187475" y="1181100"/>
            <a:ext cx="5374433" cy="4771831"/>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342900" marR="0" lvl="0" indent="-342900" rtl="0">
              <a:lnSpc>
                <a:spcPct val="100000"/>
              </a:lnSpc>
              <a:spcBef>
                <a:spcPts val="0"/>
              </a:spcBef>
              <a:spcAft>
                <a:spcPts val="0"/>
              </a:spcAft>
              <a:buAutoNum type="arabicPeriod"/>
            </a:pPr>
            <a:r>
              <a:rPr lang="en-US" sz="1200" b="1" i="0" u="none" strike="noStrike" cap="none" dirty="0">
                <a:solidFill>
                  <a:schemeClr val="bg1"/>
                </a:solidFill>
                <a:latin typeface="Arial Black" panose="020B0A04020102020204" pitchFamily="34" charset="0"/>
                <a:ea typeface="Arial"/>
                <a:cs typeface="Arial" panose="020B0604020202020204" pitchFamily="34" charset="0"/>
                <a:sym typeface="Arial"/>
              </a:rPr>
              <a:t>Treatment Demand Trend Analysis</a:t>
            </a:r>
          </a:p>
          <a:p>
            <a:pPr marR="0" lvl="0" rtl="0">
              <a:lnSpc>
                <a:spcPct val="100000"/>
              </a:lnSpc>
              <a:spcBef>
                <a:spcPts val="0"/>
              </a:spcBef>
              <a:spcAft>
                <a:spcPts val="0"/>
              </a:spcAft>
            </a:pPr>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Trend analysis of IVF cycles over time indicates a consistent increase in treatment demand, particularly among patients aged 30–40 years. This growing demand highlights the need for scalable clinical resources and proactive capacity planning to maintain service quality and success rates.</a:t>
            </a:r>
          </a:p>
          <a:p>
            <a:pPr marR="0" lvl="0" rtl="0">
              <a:lnSpc>
                <a:spcPct val="100000"/>
              </a:lnSpc>
              <a:spcBef>
                <a:spcPts val="0"/>
              </a:spcBef>
              <a:spcAft>
                <a:spcPts val="0"/>
              </a:spcAft>
            </a:pPr>
            <a:endParaRPr lang="en-US" sz="1400" dirty="0">
              <a:solidFill>
                <a:schemeClr val="bg1"/>
              </a:solidFill>
              <a:latin typeface="Arial" panose="020B0604020202020204" pitchFamily="34" charset="0"/>
              <a:cs typeface="Arial" panose="020B0604020202020204" pitchFamily="34" charset="0"/>
            </a:endParaRPr>
          </a:p>
          <a:p>
            <a:pPr marR="0" lvl="0" rtl="0">
              <a:lnSpc>
                <a:spcPct val="100000"/>
              </a:lnSpc>
              <a:spcBef>
                <a:spcPts val="0"/>
              </a:spcBef>
              <a:spcAft>
                <a:spcPts val="0"/>
              </a:spcAft>
            </a:pPr>
            <a:r>
              <a:rPr lang="en-US" sz="1400" dirty="0">
                <a:solidFill>
                  <a:schemeClr val="bg1"/>
                </a:solidFill>
                <a:latin typeface="Arial" panose="020B0604020202020204" pitchFamily="34" charset="0"/>
                <a:cs typeface="Arial" panose="020B0604020202020204" pitchFamily="34" charset="0"/>
              </a:rPr>
              <a:t>2. </a:t>
            </a:r>
            <a:r>
              <a:rPr lang="en-US" sz="1200" b="1" dirty="0">
                <a:solidFill>
                  <a:schemeClr val="bg1"/>
                </a:solidFill>
                <a:latin typeface="Arial Black" panose="020B0A04020102020204" pitchFamily="34" charset="0"/>
                <a:cs typeface="Arial" panose="020B0604020202020204" pitchFamily="34" charset="0"/>
              </a:rPr>
              <a:t>Outcome Trend &amp; Seasonality Analysis</a:t>
            </a:r>
          </a:p>
          <a:p>
            <a:pPr marR="0" lvl="0" rtl="0">
              <a:lnSpc>
                <a:spcPct val="100000"/>
              </a:lnSpc>
              <a:spcBef>
                <a:spcPts val="0"/>
              </a:spcBef>
              <a:spcAft>
                <a:spcPts val="0"/>
              </a:spcAft>
            </a:pPr>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Age-wise and protocol-wise outcome trends reveal that success rates decline with increasing age, while certain stimulation protocols consistently outperform others. Identifying these patterns enables clinics to standardize best-performing treatment approaches.</a:t>
            </a:r>
          </a:p>
          <a:p>
            <a:pPr marR="0" lvl="0" rtl="0">
              <a:lnSpc>
                <a:spcPct val="100000"/>
              </a:lnSpc>
              <a:spcBef>
                <a:spcPts val="0"/>
              </a:spcBef>
              <a:spcAft>
                <a:spcPts val="0"/>
              </a:spcAft>
            </a:pPr>
            <a:endParaRPr lang="en-US" sz="1200" b="0" i="0" u="none" strike="noStrike" cap="none" dirty="0">
              <a:solidFill>
                <a:schemeClr val="bg1"/>
              </a:solidFill>
              <a:latin typeface="Arial" panose="020B0604020202020204" pitchFamily="34" charset="0"/>
              <a:ea typeface="Arial"/>
              <a:cs typeface="Arial" panose="020B0604020202020204" pitchFamily="34" charset="0"/>
              <a:sym typeface="Arial"/>
            </a:endParaRPr>
          </a:p>
          <a:p>
            <a:pPr marR="0" lvl="0" rtl="0">
              <a:lnSpc>
                <a:spcPct val="100000"/>
              </a:lnSpc>
              <a:spcBef>
                <a:spcPts val="0"/>
              </a:spcBef>
              <a:spcAft>
                <a:spcPts val="0"/>
              </a:spcAft>
            </a:pPr>
            <a:r>
              <a:rPr lang="en-US" sz="1400" dirty="0">
                <a:solidFill>
                  <a:schemeClr val="bg1"/>
                </a:solidFill>
                <a:latin typeface="Arial" panose="020B0604020202020204" pitchFamily="34" charset="0"/>
                <a:cs typeface="Arial" panose="020B0604020202020204" pitchFamily="34" charset="0"/>
              </a:rPr>
              <a:t>3. </a:t>
            </a:r>
            <a:r>
              <a:rPr lang="en-US" sz="1200" b="1" dirty="0">
                <a:solidFill>
                  <a:schemeClr val="bg1"/>
                </a:solidFill>
                <a:latin typeface="Arial Black" panose="020B0A04020102020204" pitchFamily="34" charset="0"/>
                <a:cs typeface="Arial" panose="020B0604020202020204" pitchFamily="34" charset="0"/>
              </a:rPr>
              <a:t>Forecast Potential</a:t>
            </a:r>
            <a:endParaRPr lang="en-US" sz="1200" dirty="0">
              <a:solidFill>
                <a:schemeClr val="bg1"/>
              </a:solidFill>
              <a:latin typeface="Arial Black" panose="020B0A04020102020204" pitchFamily="34" charset="0"/>
              <a:cs typeface="Arial" panose="020B0604020202020204" pitchFamily="34" charset="0"/>
            </a:endParaRPr>
          </a:p>
          <a:p>
            <a:pPr marR="0" lvl="0" rtl="0">
              <a:lnSpc>
                <a:spcPct val="100000"/>
              </a:lnSpc>
              <a:spcBef>
                <a:spcPts val="0"/>
              </a:spcBef>
              <a:spcAft>
                <a:spcPts val="0"/>
              </a:spcAft>
            </a:pPr>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Historical patient demographics and outcome trends enable forecasting of IVF success probabilities. Predictive insights improve patient counseling, expectation management, and proactive clinical decision-making.</a:t>
            </a:r>
          </a:p>
          <a:p>
            <a:pPr marR="0" lvl="0" rtl="0">
              <a:lnSpc>
                <a:spcPct val="100000"/>
              </a:lnSpc>
              <a:spcBef>
                <a:spcPts val="0"/>
              </a:spcBef>
              <a:spcAft>
                <a:spcPts val="0"/>
              </a:spcAft>
            </a:pPr>
            <a:endParaRPr lang="en-US" sz="1400" b="0" i="0" u="none" strike="noStrike" cap="none" dirty="0">
              <a:solidFill>
                <a:schemeClr val="bg1"/>
              </a:solidFill>
              <a:latin typeface="Arial" panose="020B0604020202020204" pitchFamily="34" charset="0"/>
              <a:ea typeface="Arial"/>
              <a:cs typeface="Arial" panose="020B0604020202020204" pitchFamily="34" charset="0"/>
              <a:sym typeface="Arial"/>
            </a:endParaRPr>
          </a:p>
          <a:p>
            <a:pPr marR="0" lvl="0" rtl="0">
              <a:lnSpc>
                <a:spcPct val="100000"/>
              </a:lnSpc>
              <a:spcBef>
                <a:spcPts val="0"/>
              </a:spcBef>
              <a:spcAft>
                <a:spcPts val="0"/>
              </a:spcAft>
            </a:pPr>
            <a:r>
              <a:rPr lang="en-US" sz="1400" dirty="0">
                <a:solidFill>
                  <a:schemeClr val="bg1"/>
                </a:solidFill>
                <a:latin typeface="Arial" panose="020B0604020202020204" pitchFamily="34" charset="0"/>
                <a:cs typeface="Arial" panose="020B0604020202020204" pitchFamily="34" charset="0"/>
              </a:rPr>
              <a:t>4. </a:t>
            </a:r>
            <a:r>
              <a:rPr lang="en-US" sz="1200" b="1" dirty="0">
                <a:solidFill>
                  <a:schemeClr val="bg1"/>
                </a:solidFill>
                <a:latin typeface="Arial Black" panose="020B0A04020102020204" pitchFamily="34" charset="0"/>
                <a:cs typeface="Arial" panose="020B0604020202020204" pitchFamily="34" charset="0"/>
              </a:rPr>
              <a:t>Optimization Opportunity</a:t>
            </a:r>
          </a:p>
          <a:p>
            <a:pPr marR="0" lvl="0" rtl="0">
              <a:lnSpc>
                <a:spcPct val="100000"/>
              </a:lnSpc>
              <a:spcBef>
                <a:spcPts val="0"/>
              </a:spcBef>
              <a:spcAft>
                <a:spcPts val="0"/>
              </a:spcAft>
            </a:pPr>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Patient segmentation based on age, AMH levels, and treatment protocols identifies high-success and high-risk groups. This enables personalized treatment strategies, reduces repeat cycles, and improves overall clinical efficiency.</a:t>
            </a:r>
            <a:endParaRPr lang="en-US" sz="1200" b="0" i="0" u="none" strike="noStrike" cap="none" dirty="0">
              <a:solidFill>
                <a:schemeClr val="bg1"/>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121" name="Google Shape;121;p25"/>
          <p:cNvSpPr txBox="1"/>
          <p:nvPr/>
        </p:nvSpPr>
        <p:spPr>
          <a:xfrm>
            <a:off x="559838" y="1181100"/>
            <a:ext cx="5374433"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1" i="0" u="sng" strike="noStrike" cap="none" dirty="0">
                <a:solidFill>
                  <a:srgbClr val="000000"/>
                </a:solidFill>
                <a:latin typeface="Arial"/>
                <a:ea typeface="Arial"/>
                <a:cs typeface="Arial"/>
                <a:sym typeface="Arial"/>
              </a:rPr>
              <a:t>Statistical Insights</a:t>
            </a:r>
            <a:endParaRPr sz="1400" b="1" i="0" u="sng" strike="noStrike" cap="none" dirty="0">
              <a:solidFill>
                <a:srgbClr val="000000"/>
              </a:solidFill>
              <a:latin typeface="Arial"/>
              <a:ea typeface="Arial"/>
              <a:cs typeface="Arial"/>
              <a:sym typeface="Arial"/>
            </a:endParaRPr>
          </a:p>
        </p:txBody>
      </p:sp>
      <p:sp>
        <p:nvSpPr>
          <p:cNvPr id="122" name="Google Shape;122;p25"/>
          <p:cNvSpPr txBox="1"/>
          <p:nvPr/>
        </p:nvSpPr>
        <p:spPr>
          <a:xfrm>
            <a:off x="6187475" y="1175021"/>
            <a:ext cx="5374433"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1" i="0" u="sng" strike="noStrike" cap="none" dirty="0">
                <a:solidFill>
                  <a:srgbClr val="000000"/>
                </a:solidFill>
                <a:latin typeface="Arial"/>
                <a:ea typeface="Arial"/>
                <a:cs typeface="Arial"/>
                <a:sym typeface="Arial"/>
              </a:rPr>
              <a:t>Business Insights</a:t>
            </a:r>
            <a:endParaRPr sz="1400" b="1" i="0" u="sng" strike="noStrike" cap="none" dirty="0">
              <a:solidFill>
                <a:srgbClr val="000000"/>
              </a:solidFill>
              <a:latin typeface="Arial"/>
              <a:ea typeface="Arial"/>
              <a:cs typeface="Arial"/>
              <a:sym typeface="Arial"/>
            </a:endParaRPr>
          </a:p>
        </p:txBody>
      </p:sp>
      <p:pic>
        <p:nvPicPr>
          <p:cNvPr id="2" name="Google Shape;146;p60" descr="360DigiTMG Reviews - 52 Reviews of 360digitmg.com | Sitejabber">
            <a:extLst>
              <a:ext uri="{FF2B5EF4-FFF2-40B4-BE49-F238E27FC236}">
                <a16:creationId xmlns:a16="http://schemas.microsoft.com/office/drawing/2014/main" id="{12A4F127-188A-8ED2-351E-E3D7A3E15E2C}"/>
              </a:ext>
            </a:extLst>
          </p:cNvPr>
          <p:cNvPicPr preferRelativeResize="0"/>
          <p:nvPr/>
        </p:nvPicPr>
        <p:blipFill rotWithShape="1">
          <a:blip r:embed="rId3">
            <a:alphaModFix/>
          </a:blip>
          <a:srcRect/>
          <a:stretch/>
        </p:blipFill>
        <p:spPr>
          <a:xfrm>
            <a:off x="10351409" y="6213051"/>
            <a:ext cx="1840591" cy="644949"/>
          </a:xfrm>
          <a:prstGeom prst="rect">
            <a:avLst/>
          </a:prstGeom>
          <a:noFill/>
          <a:ln>
            <a:noFill/>
          </a:ln>
        </p:spPr>
      </p:pic>
      <p:sp>
        <p:nvSpPr>
          <p:cNvPr id="3" name="Rectangle: Rounded Corners 2">
            <a:extLst>
              <a:ext uri="{FF2B5EF4-FFF2-40B4-BE49-F238E27FC236}">
                <a16:creationId xmlns:a16="http://schemas.microsoft.com/office/drawing/2014/main" id="{4734C19B-B4E3-058C-C28D-8C4699F27895}"/>
              </a:ext>
            </a:extLst>
          </p:cNvPr>
          <p:cNvSpPr/>
          <p:nvPr/>
        </p:nvSpPr>
        <p:spPr>
          <a:xfrm>
            <a:off x="1058815" y="220913"/>
            <a:ext cx="10241281" cy="686957"/>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3200" b="1" dirty="0">
                <a:sym typeface="Times New Roman"/>
              </a:rPr>
              <a:t>Exploratory Data Analysis [EDA]</a:t>
            </a:r>
            <a:endParaRPr lang="en-GB" sz="3200" b="1" dirty="0">
              <a:latin typeface="Century Gothic" panose="020B0502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2" name="Google Shape;73;p1">
            <a:extLst>
              <a:ext uri="{FF2B5EF4-FFF2-40B4-BE49-F238E27FC236}">
                <a16:creationId xmlns:a16="http://schemas.microsoft.com/office/drawing/2014/main" id="{26DCA2C5-D542-7EEF-B652-83FB636D7094}"/>
              </a:ext>
            </a:extLst>
          </p:cNvPr>
          <p:cNvSpPr txBox="1">
            <a:spLocks/>
          </p:cNvSpPr>
          <p:nvPr/>
        </p:nvSpPr>
        <p:spPr>
          <a:xfrm>
            <a:off x="517499" y="1119229"/>
            <a:ext cx="11585169" cy="5645888"/>
          </a:xfrm>
          <a:prstGeom prst="rect">
            <a:avLst/>
          </a:prstGeom>
          <a:noFill/>
          <a:ln>
            <a:noFill/>
          </a:ln>
        </p:spPr>
        <p:txBody>
          <a:bodyPr spcFirstLastPara="1" wrap="square" lIns="91400" tIns="45675" rIns="91400" bIns="4567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514350" indent="-285750" algn="just">
              <a:lnSpc>
                <a:spcPct val="90000"/>
              </a:lnSpc>
              <a:spcBef>
                <a:spcPts val="1000"/>
              </a:spcBef>
              <a:buClr>
                <a:schemeClr val="dk1"/>
              </a:buClr>
              <a:buSzPts val="1800"/>
              <a:buFont typeface="Arial" panose="020B0604020202020204" pitchFamily="34" charset="0"/>
              <a:buChar char="•"/>
            </a:pPr>
            <a:r>
              <a:rPr lang="en-US" sz="2400" b="1" dirty="0">
                <a:latin typeface="Arial Black" panose="020B0A04020102020204" pitchFamily="34" charset="0"/>
                <a:ea typeface="Calibri" panose="020F0502020204030204" pitchFamily="34" charset="0"/>
                <a:cs typeface="Calibri" panose="020F0502020204030204" pitchFamily="34" charset="0"/>
              </a:rPr>
              <a:t>Data Ingestion: </a:t>
            </a:r>
            <a:r>
              <a:rPr lang="en-US" sz="1800" dirty="0">
                <a:latin typeface="Calibri" panose="020F0502020204030204" pitchFamily="34" charset="0"/>
                <a:ea typeface="Calibri" panose="020F0502020204030204" pitchFamily="34" charset="0"/>
                <a:cs typeface="Calibri" panose="020F0502020204030204" pitchFamily="34" charset="0"/>
              </a:rPr>
              <a:t>Loaded IVF clinical data from .xlsx files into Python </a:t>
            </a:r>
            <a:r>
              <a:rPr lang="en-US" sz="1800" dirty="0" err="1">
                <a:latin typeface="Calibri" panose="020F0502020204030204" pitchFamily="34" charset="0"/>
                <a:ea typeface="Calibri" panose="020F0502020204030204" pitchFamily="34" charset="0"/>
                <a:cs typeface="Calibri" panose="020F0502020204030204" pitchFamily="34" charset="0"/>
              </a:rPr>
              <a:t>dataframes</a:t>
            </a:r>
            <a:r>
              <a:rPr lang="en-US" sz="1800" dirty="0">
                <a:latin typeface="Calibri" panose="020F0502020204030204" pitchFamily="34" charset="0"/>
                <a:ea typeface="Calibri" panose="020F0502020204030204" pitchFamily="34" charset="0"/>
                <a:cs typeface="Calibri" panose="020F0502020204030204" pitchFamily="34" charset="0"/>
              </a:rPr>
              <a:t> and SQL tables.</a:t>
            </a:r>
          </a:p>
          <a:p>
            <a:pPr marL="514350" indent="-285750" algn="just">
              <a:lnSpc>
                <a:spcPct val="90000"/>
              </a:lnSpc>
              <a:spcBef>
                <a:spcPts val="1000"/>
              </a:spcBef>
              <a:buClr>
                <a:schemeClr val="dk1"/>
              </a:buClr>
              <a:buSzPts val="1800"/>
              <a:buFont typeface="Arial" panose="020B0604020202020204" pitchFamily="34" charset="0"/>
              <a:buChar char="•"/>
            </a:pPr>
            <a:r>
              <a:rPr lang="en-US" sz="2400" b="1" dirty="0">
                <a:latin typeface="Arial Black" panose="020B0A04020102020204" pitchFamily="34" charset="0"/>
                <a:ea typeface="Calibri" panose="020F0502020204030204" pitchFamily="34" charset="0"/>
                <a:cs typeface="Calibri" panose="020F0502020204030204" pitchFamily="34" charset="0"/>
              </a:rPr>
              <a:t>Data Cleaning: </a:t>
            </a:r>
            <a:r>
              <a:rPr lang="en-US" sz="1800" dirty="0">
                <a:latin typeface="Calibri" panose="020F0502020204030204" pitchFamily="34" charset="0"/>
                <a:ea typeface="Calibri" panose="020F0502020204030204" pitchFamily="34" charset="0"/>
                <a:cs typeface="Calibri" panose="020F0502020204030204" pitchFamily="34" charset="0"/>
              </a:rPr>
              <a:t>Standardized column names and corrected inconsistent demographic and clinical entries.</a:t>
            </a:r>
          </a:p>
          <a:p>
            <a:pPr marL="514350" indent="-285750" algn="just">
              <a:lnSpc>
                <a:spcPct val="90000"/>
              </a:lnSpc>
              <a:spcBef>
                <a:spcPts val="1000"/>
              </a:spcBef>
              <a:buClr>
                <a:schemeClr val="dk1"/>
              </a:buClr>
              <a:buSzPts val="1800"/>
              <a:buFont typeface="Arial" panose="020B0604020202020204" pitchFamily="34" charset="0"/>
              <a:buChar char="•"/>
            </a:pPr>
            <a:r>
              <a:rPr lang="en-US" sz="2400" b="1" dirty="0">
                <a:latin typeface="Arial Black" panose="020B0A04020102020204" pitchFamily="34" charset="0"/>
                <a:ea typeface="Calibri" panose="020F0502020204030204" pitchFamily="34" charset="0"/>
                <a:cs typeface="Calibri" panose="020F0502020204030204" pitchFamily="34" charset="0"/>
              </a:rPr>
              <a:t>Data Type Standardization: </a:t>
            </a:r>
            <a:r>
              <a:rPr lang="en-US" sz="1800" dirty="0">
                <a:latin typeface="Calibri" panose="020F0502020204030204" pitchFamily="34" charset="0"/>
                <a:ea typeface="Calibri" panose="020F0502020204030204" pitchFamily="34" charset="0"/>
                <a:cs typeface="Calibri" panose="020F0502020204030204" pitchFamily="34" charset="0"/>
              </a:rPr>
              <a:t>Converted Age to integer, Serum AMH to decimal, and outcomes/protocols to categorical fields.</a:t>
            </a:r>
          </a:p>
          <a:p>
            <a:pPr marL="514350" indent="-285750" algn="just">
              <a:lnSpc>
                <a:spcPct val="90000"/>
              </a:lnSpc>
              <a:spcBef>
                <a:spcPts val="1000"/>
              </a:spcBef>
              <a:buClr>
                <a:schemeClr val="dk1"/>
              </a:buClr>
              <a:buSzPts val="1800"/>
              <a:buFont typeface="Arial" panose="020B0604020202020204" pitchFamily="34" charset="0"/>
              <a:buChar char="•"/>
            </a:pPr>
            <a:r>
              <a:rPr lang="en-US" sz="2400" b="1" dirty="0">
                <a:latin typeface="Arial Black" panose="020B0A04020102020204" pitchFamily="34" charset="0"/>
                <a:ea typeface="Calibri" panose="020F0502020204030204" pitchFamily="34" charset="0"/>
                <a:cs typeface="Calibri" panose="020F0502020204030204" pitchFamily="34" charset="0"/>
              </a:rPr>
              <a:t>Missing Value Treatment: </a:t>
            </a:r>
            <a:r>
              <a:rPr lang="en-US" sz="1800" dirty="0">
                <a:latin typeface="Calibri" panose="020F0502020204030204" pitchFamily="34" charset="0"/>
                <a:ea typeface="Calibri" panose="020F0502020204030204" pitchFamily="34" charset="0"/>
                <a:cs typeface="Calibri" panose="020F0502020204030204" pitchFamily="34" charset="0"/>
              </a:rPr>
              <a:t>Applied median imputation for numeric variables to preserve data distribution.</a:t>
            </a:r>
          </a:p>
          <a:p>
            <a:pPr marL="514350" indent="-285750" algn="just">
              <a:lnSpc>
                <a:spcPct val="90000"/>
              </a:lnSpc>
              <a:spcBef>
                <a:spcPts val="1000"/>
              </a:spcBef>
              <a:buClr>
                <a:schemeClr val="dk1"/>
              </a:buClr>
              <a:buSzPts val="1800"/>
              <a:buFont typeface="Arial" panose="020B0604020202020204" pitchFamily="34" charset="0"/>
              <a:buChar char="•"/>
            </a:pPr>
            <a:r>
              <a:rPr lang="en-US" sz="2400" b="1" dirty="0">
                <a:latin typeface="Arial Black" panose="020B0A04020102020204" pitchFamily="34" charset="0"/>
                <a:ea typeface="Calibri" panose="020F0502020204030204" pitchFamily="34" charset="0"/>
                <a:cs typeface="Calibri" panose="020F0502020204030204" pitchFamily="34" charset="0"/>
              </a:rPr>
              <a:t>Outlier Identification: </a:t>
            </a:r>
            <a:r>
              <a:rPr lang="en-US" sz="1800" dirty="0">
                <a:latin typeface="Calibri" panose="020F0502020204030204" pitchFamily="34" charset="0"/>
                <a:ea typeface="Calibri" panose="020F0502020204030204" pitchFamily="34" charset="0"/>
                <a:cs typeface="Calibri" panose="020F0502020204030204" pitchFamily="34" charset="0"/>
              </a:rPr>
              <a:t>Used IQR method to detect outliers in Age and AMH (retained to preserve clinical variability).</a:t>
            </a:r>
          </a:p>
          <a:p>
            <a:pPr marL="514350" indent="-285750" algn="just">
              <a:lnSpc>
                <a:spcPct val="90000"/>
              </a:lnSpc>
              <a:spcBef>
                <a:spcPts val="1000"/>
              </a:spcBef>
              <a:buClr>
                <a:schemeClr val="dk1"/>
              </a:buClr>
              <a:buSzPts val="1800"/>
              <a:buFont typeface="Arial" panose="020B0604020202020204" pitchFamily="34" charset="0"/>
              <a:buChar char="•"/>
            </a:pPr>
            <a:r>
              <a:rPr lang="en-US" sz="2400" b="1" dirty="0">
                <a:latin typeface="Arial Black" panose="020B0A04020102020204" pitchFamily="34" charset="0"/>
                <a:ea typeface="Calibri" panose="020F0502020204030204" pitchFamily="34" charset="0"/>
                <a:cs typeface="Calibri" panose="020F0502020204030204" pitchFamily="34" charset="0"/>
              </a:rPr>
              <a:t>Statistical Moments: </a:t>
            </a:r>
            <a:r>
              <a:rPr lang="en-US" sz="1800" dirty="0">
                <a:latin typeface="Calibri" panose="020F0502020204030204" pitchFamily="34" charset="0"/>
                <a:ea typeface="Calibri" panose="020F0502020204030204" pitchFamily="34" charset="0"/>
                <a:cs typeface="Calibri" panose="020F0502020204030204" pitchFamily="34" charset="0"/>
              </a:rPr>
              <a:t>Computed mean, median, mode, variance, standard deviation, skewness, and kurtosis.</a:t>
            </a:r>
          </a:p>
          <a:p>
            <a:pPr marL="514350" indent="-285750" algn="just">
              <a:lnSpc>
                <a:spcPct val="90000"/>
              </a:lnSpc>
              <a:spcBef>
                <a:spcPts val="1000"/>
              </a:spcBef>
              <a:buClr>
                <a:schemeClr val="dk1"/>
              </a:buClr>
              <a:buSzPts val="1800"/>
              <a:buFont typeface="Arial" panose="020B0604020202020204" pitchFamily="34" charset="0"/>
              <a:buChar char="•"/>
            </a:pPr>
            <a:r>
              <a:rPr lang="en-US" sz="2400" b="1" dirty="0">
                <a:latin typeface="Arial Black" panose="020B0A04020102020204" pitchFamily="34" charset="0"/>
                <a:ea typeface="Calibri" panose="020F0502020204030204" pitchFamily="34" charset="0"/>
                <a:cs typeface="Calibri" panose="020F0502020204030204" pitchFamily="34" charset="0"/>
              </a:rPr>
              <a:t>Feature Engineering: </a:t>
            </a:r>
            <a:r>
              <a:rPr lang="en-US" sz="1800" dirty="0">
                <a:latin typeface="Calibri" panose="020F0502020204030204" pitchFamily="34" charset="0"/>
                <a:ea typeface="Calibri" panose="020F0502020204030204" pitchFamily="34" charset="0"/>
                <a:cs typeface="Calibri" panose="020F0502020204030204" pitchFamily="34" charset="0"/>
              </a:rPr>
              <a:t>Created age bands, AMH categories, and success flags for trend and segmentation analysis.</a:t>
            </a:r>
          </a:p>
          <a:p>
            <a:pPr marL="514350" indent="-285750" algn="just">
              <a:lnSpc>
                <a:spcPct val="90000"/>
              </a:lnSpc>
              <a:spcBef>
                <a:spcPts val="1000"/>
              </a:spcBef>
              <a:buClr>
                <a:schemeClr val="dk1"/>
              </a:buClr>
              <a:buSzPts val="1800"/>
              <a:buFont typeface="Arial" panose="020B0604020202020204" pitchFamily="34" charset="0"/>
              <a:buChar char="•"/>
            </a:pPr>
            <a:r>
              <a:rPr lang="en-US" sz="2400" b="1" dirty="0">
                <a:latin typeface="Arial Black" panose="020B0A04020102020204" pitchFamily="34" charset="0"/>
                <a:ea typeface="Calibri" panose="020F0502020204030204" pitchFamily="34" charset="0"/>
                <a:cs typeface="Calibri" panose="020F0502020204030204" pitchFamily="34" charset="0"/>
              </a:rPr>
              <a:t>Normalization &amp; Scaling: </a:t>
            </a:r>
            <a:r>
              <a:rPr lang="en-US" sz="1800" dirty="0">
                <a:latin typeface="Calibri" panose="020F0502020204030204" pitchFamily="34" charset="0"/>
                <a:ea typeface="Calibri" panose="020F0502020204030204" pitchFamily="34" charset="0"/>
                <a:cs typeface="Calibri" panose="020F0502020204030204" pitchFamily="34" charset="0"/>
              </a:rPr>
              <a:t>Applied Standard Scaling and Min–Max normalization for advanced analytics.</a:t>
            </a:r>
          </a:p>
        </p:txBody>
      </p:sp>
      <p:pic>
        <p:nvPicPr>
          <p:cNvPr id="3" name="Google Shape;146;p60" descr="360DigiTMG Reviews - 52 Reviews of 360digitmg.com | Sitejabber">
            <a:extLst>
              <a:ext uri="{FF2B5EF4-FFF2-40B4-BE49-F238E27FC236}">
                <a16:creationId xmlns:a16="http://schemas.microsoft.com/office/drawing/2014/main" id="{8CA0A8EE-862A-4B5A-252D-4181D6881F91}"/>
              </a:ext>
            </a:extLst>
          </p:cNvPr>
          <p:cNvPicPr preferRelativeResize="0"/>
          <p:nvPr/>
        </p:nvPicPr>
        <p:blipFill rotWithShape="1">
          <a:blip r:embed="rId3">
            <a:alphaModFix/>
          </a:blip>
          <a:srcRect/>
          <a:stretch/>
        </p:blipFill>
        <p:spPr>
          <a:xfrm>
            <a:off x="10351409" y="6213051"/>
            <a:ext cx="1840591" cy="644949"/>
          </a:xfrm>
          <a:prstGeom prst="rect">
            <a:avLst/>
          </a:prstGeom>
          <a:noFill/>
          <a:ln>
            <a:noFill/>
          </a:ln>
        </p:spPr>
      </p:pic>
      <p:sp>
        <p:nvSpPr>
          <p:cNvPr id="4" name="Rectangle: Rounded Corners 3">
            <a:extLst>
              <a:ext uri="{FF2B5EF4-FFF2-40B4-BE49-F238E27FC236}">
                <a16:creationId xmlns:a16="http://schemas.microsoft.com/office/drawing/2014/main" id="{CB2C9F23-4434-F730-8A69-0C62B105456C}"/>
              </a:ext>
            </a:extLst>
          </p:cNvPr>
          <p:cNvSpPr/>
          <p:nvPr/>
        </p:nvSpPr>
        <p:spPr>
          <a:xfrm>
            <a:off x="1058815" y="220913"/>
            <a:ext cx="10241281" cy="686957"/>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3200" b="1" dirty="0">
                <a:latin typeface="Century Gothic" panose="020B0502020202020204" pitchFamily="34" charset="0"/>
                <a:ea typeface="Times New Roman"/>
                <a:cs typeface="Times New Roman"/>
                <a:sym typeface="Times New Roman"/>
              </a:rPr>
              <a:t>DATA PREPROCESSING</a:t>
            </a:r>
            <a:endParaRPr lang="en-GB" sz="3200" b="1" dirty="0">
              <a:latin typeface="Century Gothic" panose="020B0502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900420B-64CB-16BA-7483-11B2E18322D7}"/>
              </a:ext>
            </a:extLst>
          </p:cNvPr>
          <p:cNvSpPr txBox="1">
            <a:spLocks/>
          </p:cNvSpPr>
          <p:nvPr/>
        </p:nvSpPr>
        <p:spPr>
          <a:xfrm>
            <a:off x="516978" y="977784"/>
            <a:ext cx="10515600" cy="424641"/>
          </a:xfrm>
          <a:prstGeom prst="rect">
            <a:avLst/>
          </a:prstGeom>
          <a:noFill/>
          <a:ln>
            <a:noFill/>
          </a:ln>
        </p:spPr>
        <p:txBody>
          <a:bodyPr spcFirstLastPara="1" wrap="square" lIns="91400" tIns="45675" rIns="91400" bIns="45675" anchor="ctr" anchorCtr="0">
            <a:sp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2300"/>
              <a:buFont typeface="Georgia"/>
              <a:buNone/>
              <a:defRPr sz="3100" b="0"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1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800" b="0" i="0" u="none" strike="noStrike" cap="none">
                <a:solidFill>
                  <a:srgbClr val="000000"/>
                </a:solidFill>
                <a:latin typeface="Arial"/>
                <a:ea typeface="Arial"/>
                <a:cs typeface="Arial"/>
                <a:sym typeface="Arial"/>
              </a:defRPr>
            </a:lvl9pPr>
          </a:lstStyle>
          <a:p>
            <a:pPr algn="ctr"/>
            <a:r>
              <a:rPr lang="en-US" sz="2400" b="1" dirty="0">
                <a:latin typeface="Century Gothic" panose="020B0502020202020204" pitchFamily="34" charset="0"/>
                <a:cs typeface="Times New Roman"/>
                <a:sym typeface="Times New Roman"/>
              </a:rPr>
              <a:t>Heat Map, Line Chart, Histogram and Boxplot</a:t>
            </a:r>
            <a:endParaRPr lang="en-GB" sz="2400" dirty="0">
              <a:latin typeface="Century Gothic" panose="020B0502020202020204" pitchFamily="34" charset="0"/>
            </a:endParaRPr>
          </a:p>
        </p:txBody>
      </p:sp>
      <p:pic>
        <p:nvPicPr>
          <p:cNvPr id="11" name="Google Shape;146;p60" descr="360DigiTMG Reviews - 52 Reviews of 360digitmg.com | Sitejabber">
            <a:extLst>
              <a:ext uri="{FF2B5EF4-FFF2-40B4-BE49-F238E27FC236}">
                <a16:creationId xmlns:a16="http://schemas.microsoft.com/office/drawing/2014/main" id="{BE2FEB63-C3C5-77F1-21E7-CE2FE3579585}"/>
              </a:ext>
            </a:extLst>
          </p:cNvPr>
          <p:cNvPicPr preferRelativeResize="0"/>
          <p:nvPr/>
        </p:nvPicPr>
        <p:blipFill rotWithShape="1">
          <a:blip r:embed="rId2">
            <a:alphaModFix/>
          </a:blip>
          <a:srcRect/>
          <a:stretch/>
        </p:blipFill>
        <p:spPr>
          <a:xfrm>
            <a:off x="10351409" y="6213051"/>
            <a:ext cx="1840591" cy="644949"/>
          </a:xfrm>
          <a:prstGeom prst="rect">
            <a:avLst/>
          </a:prstGeom>
          <a:noFill/>
          <a:ln>
            <a:noFill/>
          </a:ln>
        </p:spPr>
      </p:pic>
      <p:sp>
        <p:nvSpPr>
          <p:cNvPr id="14" name="Rectangle: Rounded Corners 13">
            <a:extLst>
              <a:ext uri="{FF2B5EF4-FFF2-40B4-BE49-F238E27FC236}">
                <a16:creationId xmlns:a16="http://schemas.microsoft.com/office/drawing/2014/main" id="{FC1F25AC-0475-779B-52D8-758C11A06D0C}"/>
              </a:ext>
            </a:extLst>
          </p:cNvPr>
          <p:cNvSpPr/>
          <p:nvPr/>
        </p:nvSpPr>
        <p:spPr>
          <a:xfrm>
            <a:off x="1026158" y="220913"/>
            <a:ext cx="10241281" cy="686957"/>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3200" b="1" dirty="0">
                <a:latin typeface="Century Gothic" panose="020B0502020202020204" pitchFamily="34" charset="0"/>
                <a:ea typeface="Times New Roman"/>
                <a:cs typeface="Times New Roman"/>
                <a:sym typeface="Times New Roman"/>
              </a:rPr>
              <a:t>Data Visualization</a:t>
            </a:r>
            <a:endParaRPr lang="en-GB" sz="3200" b="1" dirty="0">
              <a:latin typeface="Century Gothic" panose="020B0502020202020204" pitchFamily="34" charset="0"/>
            </a:endParaRPr>
          </a:p>
        </p:txBody>
      </p:sp>
      <p:pic>
        <p:nvPicPr>
          <p:cNvPr id="3" name="Picture 2">
            <a:extLst>
              <a:ext uri="{FF2B5EF4-FFF2-40B4-BE49-F238E27FC236}">
                <a16:creationId xmlns:a16="http://schemas.microsoft.com/office/drawing/2014/main" id="{D1C1D537-B0E0-46FE-8B6C-BCA47F6D2281}"/>
              </a:ext>
            </a:extLst>
          </p:cNvPr>
          <p:cNvPicPr>
            <a:picLocks noChangeAspect="1"/>
          </p:cNvPicPr>
          <p:nvPr/>
        </p:nvPicPr>
        <p:blipFill>
          <a:blip r:embed="rId3"/>
          <a:stretch>
            <a:fillRect/>
          </a:stretch>
        </p:blipFill>
        <p:spPr>
          <a:xfrm>
            <a:off x="0" y="1472338"/>
            <a:ext cx="12192000" cy="5385662"/>
          </a:xfrm>
          <a:prstGeom prst="rect">
            <a:avLst/>
          </a:prstGeom>
        </p:spPr>
      </p:pic>
    </p:spTree>
    <p:extLst>
      <p:ext uri="{BB962C8B-B14F-4D97-AF65-F5344CB8AC3E}">
        <p14:creationId xmlns:p14="http://schemas.microsoft.com/office/powerpoint/2010/main" val="33493200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oogle Shape;146;p60" descr="360DigiTMG Reviews - 52 Reviews of 360digitmg.com | Sitejabber">
            <a:extLst>
              <a:ext uri="{FF2B5EF4-FFF2-40B4-BE49-F238E27FC236}">
                <a16:creationId xmlns:a16="http://schemas.microsoft.com/office/drawing/2014/main" id="{0612A07B-4989-7DA6-D46D-DF9C2B2E5FF7}"/>
              </a:ext>
            </a:extLst>
          </p:cNvPr>
          <p:cNvPicPr preferRelativeResize="0"/>
          <p:nvPr/>
        </p:nvPicPr>
        <p:blipFill rotWithShape="1">
          <a:blip r:embed="rId2">
            <a:alphaModFix/>
          </a:blip>
          <a:srcRect/>
          <a:stretch/>
        </p:blipFill>
        <p:spPr>
          <a:xfrm>
            <a:off x="10351409" y="6213051"/>
            <a:ext cx="1840591" cy="644949"/>
          </a:xfrm>
          <a:prstGeom prst="rect">
            <a:avLst/>
          </a:prstGeom>
          <a:noFill/>
          <a:ln>
            <a:noFill/>
          </a:ln>
        </p:spPr>
      </p:pic>
      <p:sp>
        <p:nvSpPr>
          <p:cNvPr id="10" name="Rectangle: Rounded Corners 9">
            <a:extLst>
              <a:ext uri="{FF2B5EF4-FFF2-40B4-BE49-F238E27FC236}">
                <a16:creationId xmlns:a16="http://schemas.microsoft.com/office/drawing/2014/main" id="{9A0971F8-1364-4725-A70E-ED698375A071}"/>
              </a:ext>
            </a:extLst>
          </p:cNvPr>
          <p:cNvSpPr/>
          <p:nvPr/>
        </p:nvSpPr>
        <p:spPr>
          <a:xfrm>
            <a:off x="1026158" y="220913"/>
            <a:ext cx="10241281" cy="686957"/>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3200" b="1" dirty="0">
                <a:latin typeface="Century Gothic" panose="020B0502020202020204" pitchFamily="34" charset="0"/>
                <a:ea typeface="Times New Roman"/>
                <a:cs typeface="Times New Roman"/>
                <a:sym typeface="Times New Roman"/>
              </a:rPr>
              <a:t>Data Visualization</a:t>
            </a:r>
            <a:endParaRPr lang="en-GB" sz="3200" b="1" dirty="0">
              <a:latin typeface="Century Gothic" panose="020B0502020202020204" pitchFamily="34" charset="0"/>
            </a:endParaRPr>
          </a:p>
        </p:txBody>
      </p:sp>
      <p:pic>
        <p:nvPicPr>
          <p:cNvPr id="3" name="Picture 2">
            <a:extLst>
              <a:ext uri="{FF2B5EF4-FFF2-40B4-BE49-F238E27FC236}">
                <a16:creationId xmlns:a16="http://schemas.microsoft.com/office/drawing/2014/main" id="{A95581C3-9A39-4C68-A8FD-4D8A0AEF33E3}"/>
              </a:ext>
            </a:extLst>
          </p:cNvPr>
          <p:cNvPicPr>
            <a:picLocks noChangeAspect="1"/>
          </p:cNvPicPr>
          <p:nvPr/>
        </p:nvPicPr>
        <p:blipFill>
          <a:blip r:embed="rId3"/>
          <a:stretch>
            <a:fillRect/>
          </a:stretch>
        </p:blipFill>
        <p:spPr>
          <a:xfrm>
            <a:off x="1501539" y="1067957"/>
            <a:ext cx="9188922" cy="4985006"/>
          </a:xfrm>
          <a:prstGeom prst="rect">
            <a:avLst/>
          </a:prstGeom>
        </p:spPr>
      </p:pic>
    </p:spTree>
    <p:extLst>
      <p:ext uri="{BB962C8B-B14F-4D97-AF65-F5344CB8AC3E}">
        <p14:creationId xmlns:p14="http://schemas.microsoft.com/office/powerpoint/2010/main" val="42279423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7" name="Google Shape;137;p32"/>
          <p:cNvSpPr txBox="1"/>
          <p:nvPr/>
        </p:nvSpPr>
        <p:spPr>
          <a:xfrm>
            <a:off x="588943" y="991643"/>
            <a:ext cx="11354514" cy="1292631"/>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2400" i="0" u="none" strike="noStrike" cap="none" dirty="0">
                <a:solidFill>
                  <a:srgbClr val="000000"/>
                </a:solidFill>
                <a:highlight>
                  <a:srgbClr val="FFFF00"/>
                </a:highlight>
                <a:latin typeface="Calibri"/>
                <a:ea typeface="Calibri"/>
                <a:cs typeface="Calibri"/>
                <a:sym typeface="Calibri"/>
              </a:rPr>
              <a:t>TREATMENT DEMAND TREND ANALYSIS</a:t>
            </a:r>
          </a:p>
          <a:p>
            <a:pPr marL="0" marR="0" lvl="0" indent="0" algn="ctr" rtl="0">
              <a:lnSpc>
                <a:spcPct val="100000"/>
              </a:lnSpc>
              <a:spcBef>
                <a:spcPts val="0"/>
              </a:spcBef>
              <a:spcAft>
                <a:spcPts val="0"/>
              </a:spcAft>
              <a:buClr>
                <a:srgbClr val="000000"/>
              </a:buClr>
              <a:buSzPts val="1400"/>
              <a:buFont typeface="Arial"/>
              <a:buNone/>
            </a:pPr>
            <a:r>
              <a:rPr lang="en-IN" sz="2400" dirty="0">
                <a:solidFill>
                  <a:schemeClr val="bg1"/>
                </a:solidFill>
                <a:latin typeface="Calibri" panose="020F0502020204030204" pitchFamily="34" charset="0"/>
                <a:ea typeface="Calibri" panose="020F0502020204030204" pitchFamily="34" charset="0"/>
                <a:cs typeface="Calibri" panose="020F0502020204030204" pitchFamily="34" charset="0"/>
              </a:rPr>
              <a:t>Insight</a:t>
            </a:r>
            <a:r>
              <a:rPr lang="en-IN" sz="2400" dirty="0">
                <a:latin typeface="Calibri" panose="020F0502020204030204" pitchFamily="34" charset="0"/>
                <a:ea typeface="Calibri" panose="020F0502020204030204" pitchFamily="34" charset="0"/>
                <a:cs typeface="Calibri" panose="020F0502020204030204" pitchFamily="34" charset="0"/>
              </a:rPr>
              <a:t> </a:t>
            </a:r>
            <a:r>
              <a:rPr lang="en-US" sz="24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-IVF demand shows a steady increase over time, indicating growing treatment adoption.</a:t>
            </a:r>
            <a:endParaRPr lang="en-US" sz="2400" i="0" u="none" strike="noStrike" cap="none" dirty="0">
              <a:solidFill>
                <a:schemeClr val="tx2">
                  <a:lumMod val="20000"/>
                  <a:lumOff val="80000"/>
                </a:schemeClr>
              </a:solidFill>
              <a:latin typeface="Calibri" panose="020F0502020204030204" pitchFamily="34" charset="0"/>
              <a:ea typeface="Calibri" panose="020F0502020204030204" pitchFamily="34" charset="0"/>
              <a:cs typeface="Calibri" panose="020F0502020204030204" pitchFamily="34" charset="0"/>
              <a:sym typeface="Calibri"/>
            </a:endParaRPr>
          </a:p>
        </p:txBody>
      </p:sp>
      <p:pic>
        <p:nvPicPr>
          <p:cNvPr id="2" name="Google Shape;146;p60" descr="360DigiTMG Reviews - 52 Reviews of 360digitmg.com | Sitejabber">
            <a:extLst>
              <a:ext uri="{FF2B5EF4-FFF2-40B4-BE49-F238E27FC236}">
                <a16:creationId xmlns:a16="http://schemas.microsoft.com/office/drawing/2014/main" id="{B54855A6-A60F-1E54-2AB5-FE06D6C24452}"/>
              </a:ext>
            </a:extLst>
          </p:cNvPr>
          <p:cNvPicPr preferRelativeResize="0"/>
          <p:nvPr/>
        </p:nvPicPr>
        <p:blipFill rotWithShape="1">
          <a:blip r:embed="rId3">
            <a:alphaModFix/>
          </a:blip>
          <a:srcRect/>
          <a:stretch/>
        </p:blipFill>
        <p:spPr>
          <a:xfrm>
            <a:off x="10351409" y="6213051"/>
            <a:ext cx="1840591" cy="644949"/>
          </a:xfrm>
          <a:prstGeom prst="rect">
            <a:avLst/>
          </a:prstGeom>
          <a:noFill/>
          <a:ln>
            <a:noFill/>
          </a:ln>
        </p:spPr>
      </p:pic>
      <p:sp>
        <p:nvSpPr>
          <p:cNvPr id="7" name="Rectangle: Rounded Corners 6">
            <a:extLst>
              <a:ext uri="{FF2B5EF4-FFF2-40B4-BE49-F238E27FC236}">
                <a16:creationId xmlns:a16="http://schemas.microsoft.com/office/drawing/2014/main" id="{E29BAB85-7FCE-90F1-98C0-E856B7DC0D81}"/>
              </a:ext>
            </a:extLst>
          </p:cNvPr>
          <p:cNvSpPr/>
          <p:nvPr/>
        </p:nvSpPr>
        <p:spPr>
          <a:xfrm>
            <a:off x="1026158" y="220913"/>
            <a:ext cx="10241281" cy="686957"/>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3200" b="1" dirty="0">
                <a:latin typeface="Century Gothic" panose="020B0502020202020204" pitchFamily="34" charset="0"/>
                <a:ea typeface="Times New Roman"/>
                <a:cs typeface="Times New Roman"/>
                <a:sym typeface="Times New Roman"/>
              </a:rPr>
              <a:t>Data Visualization</a:t>
            </a:r>
            <a:endParaRPr lang="en-GB" sz="3200" b="1" dirty="0">
              <a:latin typeface="Century Gothic" panose="020B0502020202020204" pitchFamily="34" charset="0"/>
            </a:endParaRPr>
          </a:p>
        </p:txBody>
      </p:sp>
      <p:pic>
        <p:nvPicPr>
          <p:cNvPr id="6" name="Picture 5">
            <a:extLst>
              <a:ext uri="{FF2B5EF4-FFF2-40B4-BE49-F238E27FC236}">
                <a16:creationId xmlns:a16="http://schemas.microsoft.com/office/drawing/2014/main" id="{7F6B6838-65F6-416C-8037-371EAB90A183}"/>
              </a:ext>
            </a:extLst>
          </p:cNvPr>
          <p:cNvPicPr>
            <a:picLocks noChangeAspect="1"/>
          </p:cNvPicPr>
          <p:nvPr/>
        </p:nvPicPr>
        <p:blipFill>
          <a:blip r:embed="rId4"/>
          <a:stretch>
            <a:fillRect/>
          </a:stretch>
        </p:blipFill>
        <p:spPr>
          <a:xfrm>
            <a:off x="807290" y="1838325"/>
            <a:ext cx="10679015" cy="437472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oogle Shape;146;p60" descr="360DigiTMG Reviews - 52 Reviews of 360digitmg.com | Sitejabber">
            <a:extLst>
              <a:ext uri="{FF2B5EF4-FFF2-40B4-BE49-F238E27FC236}">
                <a16:creationId xmlns:a16="http://schemas.microsoft.com/office/drawing/2014/main" id="{98EF82DE-0088-2A9E-C396-C3ABF87B59B3}"/>
              </a:ext>
            </a:extLst>
          </p:cNvPr>
          <p:cNvPicPr preferRelativeResize="0"/>
          <p:nvPr/>
        </p:nvPicPr>
        <p:blipFill rotWithShape="1">
          <a:blip r:embed="rId2">
            <a:alphaModFix/>
          </a:blip>
          <a:srcRect/>
          <a:stretch/>
        </p:blipFill>
        <p:spPr>
          <a:xfrm>
            <a:off x="10351409" y="6213051"/>
            <a:ext cx="1840591" cy="644949"/>
          </a:xfrm>
          <a:prstGeom prst="rect">
            <a:avLst/>
          </a:prstGeom>
          <a:noFill/>
          <a:ln>
            <a:noFill/>
          </a:ln>
        </p:spPr>
      </p:pic>
      <p:sp>
        <p:nvSpPr>
          <p:cNvPr id="10" name="Rectangle: Rounded Corners 9">
            <a:extLst>
              <a:ext uri="{FF2B5EF4-FFF2-40B4-BE49-F238E27FC236}">
                <a16:creationId xmlns:a16="http://schemas.microsoft.com/office/drawing/2014/main" id="{B30E031F-EA6F-AB02-6FF8-38E164A097A4}"/>
              </a:ext>
            </a:extLst>
          </p:cNvPr>
          <p:cNvSpPr/>
          <p:nvPr/>
        </p:nvSpPr>
        <p:spPr>
          <a:xfrm>
            <a:off x="1026158" y="220913"/>
            <a:ext cx="10241281" cy="686957"/>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3200" b="1" dirty="0">
                <a:latin typeface="Century Gothic" panose="020B0502020202020204" pitchFamily="34" charset="0"/>
                <a:ea typeface="Times New Roman"/>
                <a:cs typeface="Times New Roman"/>
                <a:sym typeface="Times New Roman"/>
              </a:rPr>
              <a:t>Data Visualization</a:t>
            </a:r>
            <a:endParaRPr lang="en-GB" sz="3200" b="1" dirty="0">
              <a:latin typeface="Century Gothic" panose="020B0502020202020204" pitchFamily="34" charset="0"/>
            </a:endParaRPr>
          </a:p>
        </p:txBody>
      </p:sp>
      <p:sp>
        <p:nvSpPr>
          <p:cNvPr id="15" name="TextBox 14">
            <a:extLst>
              <a:ext uri="{FF2B5EF4-FFF2-40B4-BE49-F238E27FC236}">
                <a16:creationId xmlns:a16="http://schemas.microsoft.com/office/drawing/2014/main" id="{8CB6D706-0C2B-4D64-881F-EA84CCB90A34}"/>
              </a:ext>
            </a:extLst>
          </p:cNvPr>
          <p:cNvSpPr txBox="1"/>
          <p:nvPr/>
        </p:nvSpPr>
        <p:spPr>
          <a:xfrm>
            <a:off x="1181100" y="1266825"/>
            <a:ext cx="10086339" cy="646331"/>
          </a:xfrm>
          <a:prstGeom prst="rect">
            <a:avLst/>
          </a:prstGeom>
          <a:noFill/>
        </p:spPr>
        <p:txBody>
          <a:bodyPr wrap="square" rtlCol="0">
            <a:spAutoFit/>
          </a:bodyPr>
          <a:lstStyle/>
          <a:p>
            <a:pPr algn="ctr"/>
            <a:r>
              <a:rPr lang="en-US" b="1" dirty="0">
                <a:solidFill>
                  <a:schemeClr val="bg1"/>
                </a:solidFill>
                <a:highlight>
                  <a:srgbClr val="FFFF00"/>
                </a:highlight>
                <a:latin typeface="Arial Black" panose="020B0A04020102020204" pitchFamily="34" charset="0"/>
              </a:rPr>
              <a:t>OUTCOME TREND ANALYSIS</a:t>
            </a:r>
            <a:br>
              <a:rPr lang="en-US" b="1" dirty="0">
                <a:solidFill>
                  <a:schemeClr val="bg1"/>
                </a:solidFill>
                <a:latin typeface="Arial Black" panose="020B0A04020102020204" pitchFamily="34" charset="0"/>
              </a:rPr>
            </a:br>
            <a:r>
              <a:rPr lang="en-US" b="1" dirty="0">
                <a:solidFill>
                  <a:schemeClr val="bg1"/>
                </a:solidFill>
                <a:latin typeface="Arial Black" panose="020B0A04020102020204" pitchFamily="34" charset="0"/>
              </a:rPr>
              <a:t>Insight-Success rates decline with age and vary across stimulation protocols.</a:t>
            </a:r>
            <a:endParaRPr lang="en-IN" b="1" dirty="0">
              <a:solidFill>
                <a:schemeClr val="bg1"/>
              </a:solidFill>
              <a:latin typeface="Arial Black" panose="020B0A04020102020204" pitchFamily="34" charset="0"/>
            </a:endParaRPr>
          </a:p>
        </p:txBody>
      </p:sp>
      <p:pic>
        <p:nvPicPr>
          <p:cNvPr id="17" name="Picture 16">
            <a:extLst>
              <a:ext uri="{FF2B5EF4-FFF2-40B4-BE49-F238E27FC236}">
                <a16:creationId xmlns:a16="http://schemas.microsoft.com/office/drawing/2014/main" id="{E34483F9-20B4-4AB0-B3E5-20E77F4EBD16}"/>
              </a:ext>
            </a:extLst>
          </p:cNvPr>
          <p:cNvPicPr>
            <a:picLocks noChangeAspect="1"/>
          </p:cNvPicPr>
          <p:nvPr/>
        </p:nvPicPr>
        <p:blipFill>
          <a:blip r:embed="rId3"/>
          <a:stretch>
            <a:fillRect/>
          </a:stretch>
        </p:blipFill>
        <p:spPr>
          <a:xfrm>
            <a:off x="924561" y="1913155"/>
            <a:ext cx="10679015" cy="4629061"/>
          </a:xfrm>
          <a:prstGeom prst="rect">
            <a:avLst/>
          </a:prstGeom>
        </p:spPr>
      </p:pic>
    </p:spTree>
    <p:extLst>
      <p:ext uri="{BB962C8B-B14F-4D97-AF65-F5344CB8AC3E}">
        <p14:creationId xmlns:p14="http://schemas.microsoft.com/office/powerpoint/2010/main" val="14740314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7C43CBD-F76A-797D-0F33-98B83EEB5CD6}"/>
              </a:ext>
            </a:extLst>
          </p:cNvPr>
          <p:cNvSpPr txBox="1">
            <a:spLocks/>
          </p:cNvSpPr>
          <p:nvPr/>
        </p:nvSpPr>
        <p:spPr>
          <a:xfrm>
            <a:off x="496069" y="1021595"/>
            <a:ext cx="11380972" cy="424641"/>
          </a:xfrm>
          <a:prstGeom prst="rect">
            <a:avLst/>
          </a:prstGeom>
          <a:noFill/>
          <a:ln>
            <a:noFill/>
          </a:ln>
        </p:spPr>
        <p:txBody>
          <a:bodyPr spcFirstLastPara="1" wrap="square" lIns="91400" tIns="45675" rIns="91400" bIns="45675" anchor="ctr" anchorCtr="0">
            <a:sp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2300"/>
              <a:buFont typeface="Georgia"/>
              <a:buNone/>
              <a:defRPr sz="3100" b="0" i="0" u="none" strike="noStrike" cap="none">
                <a:solidFill>
                  <a:schemeClr val="dk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1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800" b="0" i="0" u="none" strike="noStrike" cap="none">
                <a:solidFill>
                  <a:srgbClr val="000000"/>
                </a:solidFill>
                <a:latin typeface="Arial"/>
                <a:ea typeface="Arial"/>
                <a:cs typeface="Arial"/>
                <a:sym typeface="Arial"/>
              </a:defRPr>
            </a:lvl9pPr>
          </a:lstStyle>
          <a:p>
            <a:r>
              <a:rPr lang="en-IN" sz="1000" b="1" dirty="0">
                <a:highlight>
                  <a:srgbClr val="FFFF00"/>
                </a:highlight>
                <a:latin typeface="Arial Black" panose="020B0A04020102020204" pitchFamily="34" charset="0"/>
              </a:rPr>
              <a:t>OPTIMIZATION OPPORTUNITY</a:t>
            </a:r>
            <a:br>
              <a:rPr lang="en-IN" sz="1400" b="1" dirty="0"/>
            </a:br>
            <a:r>
              <a:rPr lang="en-US" sz="1400" b="1" dirty="0"/>
              <a:t>Insight</a:t>
            </a:r>
            <a:r>
              <a:rPr lang="en-US" sz="1400" dirty="0"/>
              <a:t>-Younger patients with higher AMH show better outcomes, enabling treatment optimization.</a:t>
            </a:r>
            <a:endParaRPr lang="en-GB" sz="2400" dirty="0"/>
          </a:p>
        </p:txBody>
      </p:sp>
      <p:pic>
        <p:nvPicPr>
          <p:cNvPr id="5" name="Google Shape;146;p60" descr="360DigiTMG Reviews - 52 Reviews of 360digitmg.com | Sitejabber">
            <a:extLst>
              <a:ext uri="{FF2B5EF4-FFF2-40B4-BE49-F238E27FC236}">
                <a16:creationId xmlns:a16="http://schemas.microsoft.com/office/drawing/2014/main" id="{08B6861B-9B47-765D-B8EE-CB7352679D60}"/>
              </a:ext>
            </a:extLst>
          </p:cNvPr>
          <p:cNvPicPr preferRelativeResize="0"/>
          <p:nvPr/>
        </p:nvPicPr>
        <p:blipFill rotWithShape="1">
          <a:blip r:embed="rId2">
            <a:alphaModFix/>
          </a:blip>
          <a:srcRect/>
          <a:stretch/>
        </p:blipFill>
        <p:spPr>
          <a:xfrm>
            <a:off x="10351409" y="6213051"/>
            <a:ext cx="1840591" cy="644949"/>
          </a:xfrm>
          <a:prstGeom prst="rect">
            <a:avLst/>
          </a:prstGeom>
          <a:noFill/>
          <a:ln>
            <a:noFill/>
          </a:ln>
        </p:spPr>
      </p:pic>
      <p:sp>
        <p:nvSpPr>
          <p:cNvPr id="10" name="Rectangle: Rounded Corners 9">
            <a:extLst>
              <a:ext uri="{FF2B5EF4-FFF2-40B4-BE49-F238E27FC236}">
                <a16:creationId xmlns:a16="http://schemas.microsoft.com/office/drawing/2014/main" id="{67383B7D-64C2-EC5F-577D-06BF0C959F90}"/>
              </a:ext>
            </a:extLst>
          </p:cNvPr>
          <p:cNvSpPr/>
          <p:nvPr/>
        </p:nvSpPr>
        <p:spPr>
          <a:xfrm>
            <a:off x="908007" y="194822"/>
            <a:ext cx="10139680" cy="686957"/>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3200" b="1" dirty="0">
                <a:latin typeface="Century Gothic" panose="020B0502020202020204" pitchFamily="34" charset="0"/>
                <a:ea typeface="Times New Roman"/>
                <a:cs typeface="Times New Roman"/>
                <a:sym typeface="Times New Roman"/>
              </a:rPr>
              <a:t>Data Visualization</a:t>
            </a:r>
            <a:endParaRPr lang="en-GB" sz="3200" b="1" dirty="0">
              <a:latin typeface="Century Gothic" panose="020B0502020202020204" pitchFamily="34" charset="0"/>
            </a:endParaRPr>
          </a:p>
        </p:txBody>
      </p:sp>
      <p:pic>
        <p:nvPicPr>
          <p:cNvPr id="11" name="Picture 10">
            <a:extLst>
              <a:ext uri="{FF2B5EF4-FFF2-40B4-BE49-F238E27FC236}">
                <a16:creationId xmlns:a16="http://schemas.microsoft.com/office/drawing/2014/main" id="{04D23903-2B8C-457D-9598-D31739B5FAE6}"/>
              </a:ext>
            </a:extLst>
          </p:cNvPr>
          <p:cNvPicPr>
            <a:picLocks noChangeAspect="1"/>
          </p:cNvPicPr>
          <p:nvPr/>
        </p:nvPicPr>
        <p:blipFill>
          <a:blip r:embed="rId3"/>
          <a:stretch>
            <a:fillRect/>
          </a:stretch>
        </p:blipFill>
        <p:spPr>
          <a:xfrm>
            <a:off x="638339" y="1446236"/>
            <a:ext cx="10679015" cy="4877481"/>
          </a:xfrm>
          <a:prstGeom prst="rect">
            <a:avLst/>
          </a:prstGeom>
        </p:spPr>
      </p:pic>
    </p:spTree>
    <p:extLst>
      <p:ext uri="{BB962C8B-B14F-4D97-AF65-F5344CB8AC3E}">
        <p14:creationId xmlns:p14="http://schemas.microsoft.com/office/powerpoint/2010/main" val="3119734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oogle Shape;146;p60" descr="360DigiTMG Reviews - 52 Reviews of 360digitmg.com | Sitejabber">
            <a:extLst>
              <a:ext uri="{FF2B5EF4-FFF2-40B4-BE49-F238E27FC236}">
                <a16:creationId xmlns:a16="http://schemas.microsoft.com/office/drawing/2014/main" id="{3885D226-7D4B-B8C5-651D-76998EE2E9C7}"/>
              </a:ext>
            </a:extLst>
          </p:cNvPr>
          <p:cNvPicPr preferRelativeResize="0"/>
          <p:nvPr/>
        </p:nvPicPr>
        <p:blipFill rotWithShape="1">
          <a:blip r:embed="rId2">
            <a:alphaModFix/>
          </a:blip>
          <a:srcRect/>
          <a:stretch/>
        </p:blipFill>
        <p:spPr>
          <a:xfrm>
            <a:off x="10351409" y="6213051"/>
            <a:ext cx="1840591" cy="644949"/>
          </a:xfrm>
          <a:prstGeom prst="rect">
            <a:avLst/>
          </a:prstGeom>
          <a:noFill/>
          <a:ln>
            <a:noFill/>
          </a:ln>
        </p:spPr>
      </p:pic>
      <p:sp>
        <p:nvSpPr>
          <p:cNvPr id="6" name="Rectangle: Rounded Corners 5">
            <a:extLst>
              <a:ext uri="{FF2B5EF4-FFF2-40B4-BE49-F238E27FC236}">
                <a16:creationId xmlns:a16="http://schemas.microsoft.com/office/drawing/2014/main" id="{12BE40DA-7FAB-8E7D-124D-1C8077EB0E50}"/>
              </a:ext>
            </a:extLst>
          </p:cNvPr>
          <p:cNvSpPr/>
          <p:nvPr/>
        </p:nvSpPr>
        <p:spPr>
          <a:xfrm>
            <a:off x="938487" y="169404"/>
            <a:ext cx="10139680" cy="686957"/>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3200" b="1" dirty="0">
                <a:latin typeface="Century Gothic" panose="020B0502020202020204" pitchFamily="34" charset="0"/>
                <a:ea typeface="Times New Roman"/>
                <a:cs typeface="Times New Roman"/>
                <a:sym typeface="Times New Roman"/>
              </a:rPr>
              <a:t>Data Visualization - Power BI Dashboard </a:t>
            </a:r>
            <a:endParaRPr lang="en-GB" sz="3200" b="1" dirty="0">
              <a:latin typeface="Century Gothic" panose="020B0502020202020204" pitchFamily="34" charset="0"/>
            </a:endParaRPr>
          </a:p>
        </p:txBody>
      </p:sp>
      <p:pic>
        <p:nvPicPr>
          <p:cNvPr id="3" name="Picture 2">
            <a:extLst>
              <a:ext uri="{FF2B5EF4-FFF2-40B4-BE49-F238E27FC236}">
                <a16:creationId xmlns:a16="http://schemas.microsoft.com/office/drawing/2014/main" id="{9AA4D3FB-8712-47E4-A86B-1FAB207294A7}"/>
              </a:ext>
            </a:extLst>
          </p:cNvPr>
          <p:cNvPicPr>
            <a:picLocks noChangeAspect="1"/>
          </p:cNvPicPr>
          <p:nvPr/>
        </p:nvPicPr>
        <p:blipFill>
          <a:blip r:embed="rId3"/>
          <a:stretch>
            <a:fillRect/>
          </a:stretch>
        </p:blipFill>
        <p:spPr>
          <a:xfrm>
            <a:off x="756492" y="856361"/>
            <a:ext cx="10679015" cy="5356690"/>
          </a:xfrm>
          <a:prstGeom prst="rect">
            <a:avLst/>
          </a:prstGeom>
        </p:spPr>
      </p:pic>
    </p:spTree>
    <p:extLst>
      <p:ext uri="{BB962C8B-B14F-4D97-AF65-F5344CB8AC3E}">
        <p14:creationId xmlns:p14="http://schemas.microsoft.com/office/powerpoint/2010/main" val="15981992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0EA1CF8-6111-DE3C-D48C-580F13A202B7}"/>
              </a:ext>
            </a:extLst>
          </p:cNvPr>
          <p:cNvSpPr txBox="1"/>
          <p:nvPr/>
        </p:nvSpPr>
        <p:spPr>
          <a:xfrm>
            <a:off x="518160" y="1361440"/>
            <a:ext cx="11084560" cy="3046988"/>
          </a:xfrm>
          <a:prstGeom prst="rect">
            <a:avLst/>
          </a:prstGeom>
          <a:noFill/>
        </p:spPr>
        <p:txBody>
          <a:bodyPr wrap="square" rtlCol="0">
            <a:spAutoFit/>
          </a:bodyPr>
          <a:lstStyle/>
          <a:p>
            <a:pPr marL="285750" indent="-285750">
              <a:buFont typeface="Wingdings" panose="05000000000000000000" pitchFamily="2" charset="2"/>
              <a:buChar char="ü"/>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The IVF Clinical Outcome Analysis Project has established a strong analytical and operational foundation to improve treatment success rates and clinical decision-making. Through a combination of outcome trend analysis, patient segmentation, and predictive insights, the clinic is now equipped to enhance treatment effectiveness, optimize clinical workflows, and improve patient satisfaction.</a:t>
            </a:r>
          </a:p>
          <a:p>
            <a:pPr marL="285750" indent="-285750">
              <a:buFont typeface="Wingdings" panose="05000000000000000000" pitchFamily="2" charset="2"/>
              <a:buChar char="ü"/>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Established data-driven monitoring of IVF success rates</a:t>
            </a:r>
          </a:p>
          <a:p>
            <a:pPr marL="285750" indent="-285750">
              <a:buFont typeface="Wingdings" panose="05000000000000000000" pitchFamily="2" charset="2"/>
              <a:buChar char="ü"/>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Enabled predictive analysis for treatment outcomes and demand forecasting</a:t>
            </a:r>
          </a:p>
          <a:p>
            <a:pPr marL="285750" indent="-285750">
              <a:buFont typeface="Wingdings" panose="05000000000000000000" pitchFamily="2" charset="2"/>
              <a:buChar char="ü"/>
            </a:pP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rPr>
              <a:t>Integrated cross-functional insights across clinical, laboratory, and operational teams</a:t>
            </a:r>
            <a:endParaRPr lang="en-GB" dirty="0"/>
          </a:p>
        </p:txBody>
      </p:sp>
      <p:sp>
        <p:nvSpPr>
          <p:cNvPr id="3" name="Rectangle: Rounded Corners 2">
            <a:extLst>
              <a:ext uri="{FF2B5EF4-FFF2-40B4-BE49-F238E27FC236}">
                <a16:creationId xmlns:a16="http://schemas.microsoft.com/office/drawing/2014/main" id="{43692766-C7F3-55F5-3BF9-E42F9D594E0A}"/>
              </a:ext>
            </a:extLst>
          </p:cNvPr>
          <p:cNvSpPr/>
          <p:nvPr/>
        </p:nvSpPr>
        <p:spPr>
          <a:xfrm>
            <a:off x="853440" y="318623"/>
            <a:ext cx="10139680" cy="686957"/>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3200" b="1" dirty="0"/>
              <a:t>CONCLUSION</a:t>
            </a:r>
            <a:endParaRPr lang="en-GB" sz="3200" b="1" dirty="0"/>
          </a:p>
        </p:txBody>
      </p:sp>
      <p:pic>
        <p:nvPicPr>
          <p:cNvPr id="9" name="Google Shape;146;p60" descr="360DigiTMG Reviews - 52 Reviews of 360digitmg.com | Sitejabber">
            <a:extLst>
              <a:ext uri="{FF2B5EF4-FFF2-40B4-BE49-F238E27FC236}">
                <a16:creationId xmlns:a16="http://schemas.microsoft.com/office/drawing/2014/main" id="{7D386C89-A37F-F61F-25C6-634785E5E50B}"/>
              </a:ext>
            </a:extLst>
          </p:cNvPr>
          <p:cNvPicPr preferRelativeResize="0"/>
          <p:nvPr/>
        </p:nvPicPr>
        <p:blipFill rotWithShape="1">
          <a:blip r:embed="rId2">
            <a:alphaModFix/>
          </a:blip>
          <a:srcRect/>
          <a:stretch/>
        </p:blipFill>
        <p:spPr>
          <a:xfrm>
            <a:off x="10351409" y="6213051"/>
            <a:ext cx="1840591" cy="644949"/>
          </a:xfrm>
          <a:prstGeom prst="rect">
            <a:avLst/>
          </a:prstGeom>
          <a:noFill/>
          <a:ln>
            <a:noFill/>
          </a:ln>
        </p:spPr>
      </p:pic>
    </p:spTree>
    <p:extLst>
      <p:ext uri="{BB962C8B-B14F-4D97-AF65-F5344CB8AC3E}">
        <p14:creationId xmlns:p14="http://schemas.microsoft.com/office/powerpoint/2010/main" val="15176972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cxnSp>
        <p:nvCxnSpPr>
          <p:cNvPr id="144" name="Google Shape;144;p60"/>
          <p:cNvCxnSpPr/>
          <p:nvPr/>
        </p:nvCxnSpPr>
        <p:spPr>
          <a:xfrm>
            <a:off x="0" y="6464596"/>
            <a:ext cx="9597656" cy="0"/>
          </a:xfrm>
          <a:prstGeom prst="straightConnector1">
            <a:avLst/>
          </a:prstGeom>
          <a:noFill/>
          <a:ln w="9525" cap="flat" cmpd="sng">
            <a:solidFill>
              <a:srgbClr val="3B7FF2"/>
            </a:solidFill>
            <a:prstDash val="solid"/>
            <a:round/>
            <a:headEnd type="none" w="sm" len="sm"/>
            <a:tailEnd type="none" w="sm" len="sm"/>
          </a:ln>
        </p:spPr>
      </p:cxnSp>
      <p:pic>
        <p:nvPicPr>
          <p:cNvPr id="145" name="Google Shape;145;p60" descr="Attitudes 2 Animal Cognition Survey – The Anthrozoologist"/>
          <p:cNvPicPr preferRelativeResize="0"/>
          <p:nvPr/>
        </p:nvPicPr>
        <p:blipFill rotWithShape="1">
          <a:blip r:embed="rId3">
            <a:alphaModFix/>
          </a:blip>
          <a:srcRect/>
          <a:stretch/>
        </p:blipFill>
        <p:spPr>
          <a:xfrm>
            <a:off x="3110415" y="272435"/>
            <a:ext cx="5971172" cy="5971172"/>
          </a:xfrm>
          <a:prstGeom prst="rect">
            <a:avLst/>
          </a:prstGeom>
          <a:noFill/>
          <a:ln>
            <a:noFill/>
          </a:ln>
        </p:spPr>
      </p:pic>
      <p:pic>
        <p:nvPicPr>
          <p:cNvPr id="146" name="Google Shape;146;p60" descr="360DigiTMG Reviews - 52 Reviews of 360digitmg.com | Sitejabber"/>
          <p:cNvPicPr preferRelativeResize="0"/>
          <p:nvPr/>
        </p:nvPicPr>
        <p:blipFill rotWithShape="1">
          <a:blip r:embed="rId4">
            <a:alphaModFix/>
          </a:blip>
          <a:srcRect/>
          <a:stretch/>
        </p:blipFill>
        <p:spPr>
          <a:xfrm>
            <a:off x="10351409" y="6213051"/>
            <a:ext cx="1840591" cy="644949"/>
          </a:xfrm>
          <a:prstGeom prst="rect">
            <a:avLst/>
          </a:prstGeom>
          <a:noFill/>
          <a:ln>
            <a:noFill/>
          </a:ln>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TM04033919[[fn=Circuit]]</Template>
  <TotalTime>0</TotalTime>
  <Words>1093</Words>
  <Application>Microsoft Office PowerPoint</Application>
  <PresentationFormat>Widescreen</PresentationFormat>
  <Paragraphs>106</Paragraphs>
  <Slides>18</Slides>
  <Notes>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18</vt:i4>
      </vt:variant>
    </vt:vector>
  </HeadingPairs>
  <TitlesOfParts>
    <vt:vector size="27" baseType="lpstr">
      <vt:lpstr>Arial</vt:lpstr>
      <vt:lpstr>Arial Black</vt:lpstr>
      <vt:lpstr>Calibri</vt:lpstr>
      <vt:lpstr>Century Gothic</vt:lpstr>
      <vt:lpstr>Georgia</vt:lpstr>
      <vt:lpstr>Times New Roman</vt:lpstr>
      <vt:lpstr>Tw Cen MT</vt:lpstr>
      <vt:lpstr>Wingdings</vt:lpstr>
      <vt:lpstr>Circuit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2026-02-07T18:35:08Z</dcterms:created>
  <dcterms:modified xsi:type="dcterms:W3CDTF">2026-02-07T18:35:46Z</dcterms:modified>
</cp:coreProperties>
</file>